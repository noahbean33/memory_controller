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4" r:id="rId8"/>
    <p:sldId id="269" r:id="rId9"/>
    <p:sldId id="272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7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5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1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4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6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5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3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8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1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8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1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04524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User (PC/Another FPGA </a:t>
            </a:r>
            <a:r>
              <a:rPr lang="en-US" sz="2000" b="1" dirty="0" err="1" smtClean="0">
                <a:solidFill>
                  <a:schemeClr val="tx1"/>
                </a:solidFill>
              </a:rPr>
              <a:t>etc</a:t>
            </a:r>
            <a:r>
              <a:rPr lang="en-US" sz="2000" b="1" dirty="0" smtClean="0">
                <a:solidFill>
                  <a:schemeClr val="tx1"/>
                </a:solidFill>
              </a:rPr>
              <a:t>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45259" y="1104523"/>
            <a:ext cx="7677339" cy="4635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FPGA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45259" y="1602461"/>
            <a:ext cx="1777497" cy="3802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Register File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1177" y="1602461"/>
            <a:ext cx="5151422" cy="3967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QSPI Controller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71019" y="1104523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QSPI Flash </a:t>
            </a:r>
            <a:r>
              <a:rPr lang="en-US" sz="2000" b="1" dirty="0" err="1" smtClean="0">
                <a:solidFill>
                  <a:schemeClr val="tx1"/>
                </a:solidFill>
              </a:rPr>
              <a:t>Mem</a:t>
            </a:r>
            <a:r>
              <a:rPr lang="en-US" sz="2000" b="1" dirty="0" smtClean="0">
                <a:solidFill>
                  <a:schemeClr val="tx1"/>
                </a:solidFill>
              </a:rPr>
              <a:t> Real component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 flipV="1">
            <a:off x="1520981" y="3422210"/>
            <a:ext cx="72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025720" y="3302037"/>
            <a:ext cx="721314" cy="1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520981" y="3730027"/>
            <a:ext cx="72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022756" y="3802455"/>
            <a:ext cx="748421" cy="1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922598" y="242632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922598" y="2723585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922598" y="3012352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922598" y="33120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671018" y="221392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42379" y="252112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656492" y="282280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70227" y="31299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DQ2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70227" y="341722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DQ3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670226" y="369588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9922598" y="36168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922598" y="388355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918388" y="4838958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Nonvolatile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5768710" y="4245164"/>
            <a:ext cx="1779" cy="581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056118" y="2836641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</a:t>
            </a:r>
            <a:r>
              <a:rPr lang="en-US" dirty="0" smtClean="0">
                <a:solidFill>
                  <a:schemeClr val="tx1"/>
                </a:solidFill>
              </a:rPr>
              <a:t>command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56118" y="3676307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Address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56118" y="4495800"/>
            <a:ext cx="1990519" cy="5282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95320" y="2378953"/>
            <a:ext cx="1728613" cy="186621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State machines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6548076" y="3147113"/>
            <a:ext cx="532185" cy="15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6" idx="1"/>
          </p:cNvCxnSpPr>
          <p:nvPr/>
        </p:nvCxnSpPr>
        <p:spPr>
          <a:xfrm>
            <a:off x="6492847" y="3601893"/>
            <a:ext cx="563271" cy="39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0" idx="5"/>
          </p:cNvCxnSpPr>
          <p:nvPr/>
        </p:nvCxnSpPr>
        <p:spPr>
          <a:xfrm>
            <a:off x="6270783" y="3971864"/>
            <a:ext cx="778753" cy="7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049536" y="2213925"/>
            <a:ext cx="1990519" cy="54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6323067" y="2521123"/>
            <a:ext cx="697830" cy="20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25513"/>
            <a:ext cx="12220639" cy="55769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TB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04524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TB process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45259" y="1104523"/>
            <a:ext cx="7677339" cy="4635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FPGA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45259" y="1602461"/>
            <a:ext cx="1777497" cy="3802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Register File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1177" y="1602461"/>
            <a:ext cx="5151422" cy="3967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QSPI Controller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71019" y="1104523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QSPI Flash Virtual component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56118" y="2836641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</a:t>
            </a:r>
            <a:r>
              <a:rPr lang="en-US" dirty="0" smtClean="0">
                <a:solidFill>
                  <a:schemeClr val="tx1"/>
                </a:solidFill>
              </a:rPr>
              <a:t>command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>
          <a:xfrm flipV="1">
            <a:off x="1520981" y="3422210"/>
            <a:ext cx="72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25720" y="3302037"/>
            <a:ext cx="721314" cy="1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520981" y="3730027"/>
            <a:ext cx="72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022756" y="3802455"/>
            <a:ext cx="748421" cy="1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922598" y="242632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922598" y="2723585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922598" y="3012352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922598" y="33120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71018" y="221392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42379" y="252112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DQ0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56492" y="282280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670227" y="31299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70227" y="341722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70226" y="369588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9922598" y="36168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22598" y="388355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056118" y="3676307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Address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56118" y="4495800"/>
            <a:ext cx="1990519" cy="5282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795320" y="2378953"/>
            <a:ext cx="1728613" cy="186621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State machines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6548076" y="3147113"/>
            <a:ext cx="532185" cy="15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0" idx="1"/>
          </p:cNvCxnSpPr>
          <p:nvPr/>
        </p:nvCxnSpPr>
        <p:spPr>
          <a:xfrm>
            <a:off x="6492847" y="3601893"/>
            <a:ext cx="563271" cy="39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2" idx="5"/>
          </p:cNvCxnSpPr>
          <p:nvPr/>
        </p:nvCxnSpPr>
        <p:spPr>
          <a:xfrm>
            <a:off x="6270783" y="3971864"/>
            <a:ext cx="778753" cy="7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918388" y="4838958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Nonvolatile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5768710" y="4245164"/>
            <a:ext cx="1779" cy="581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049536" y="2213925"/>
            <a:ext cx="1990519" cy="54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6323067" y="2521123"/>
            <a:ext cx="697830" cy="20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84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985698"/>
              </p:ext>
            </p:extLst>
          </p:nvPr>
        </p:nvGraphicFramePr>
        <p:xfrm>
          <a:off x="628712" y="615574"/>
          <a:ext cx="8128000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baseline="0" dirty="0" smtClean="0"/>
                        <a:t>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initial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write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Bits(31:0)</a:t>
                      </a:r>
                      <a:r>
                        <a:rPr lang="en-US" baseline="0" dirty="0" smtClean="0"/>
                        <a:t> – Data Write to the QSPI flash memory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Bits(31:0)</a:t>
                      </a:r>
                      <a:r>
                        <a:rPr lang="en-US" baseline="0" dirty="0" smtClean="0"/>
                        <a:t> – </a:t>
                      </a:r>
                      <a:r>
                        <a:rPr lang="en-US" baseline="0" dirty="0" smtClean="0"/>
                        <a:t> Data Read from the QSPI flash 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Address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Bits(31:24)</a:t>
                      </a:r>
                      <a:r>
                        <a:rPr lang="en-US" baseline="0" dirty="0" smtClean="0"/>
                        <a:t> – NA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Bits(23:0)</a:t>
                      </a:r>
                      <a:r>
                        <a:rPr lang="en-US" baseline="0" dirty="0" smtClean="0"/>
                        <a:t> – The address of the QSPI flash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Command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Bits(31:8)</a:t>
                      </a:r>
                      <a:r>
                        <a:rPr lang="en-US" baseline="0" dirty="0" smtClean="0"/>
                        <a:t> – NA</a:t>
                      </a:r>
                    </a:p>
                    <a:p>
                      <a:r>
                        <a:rPr lang="en-US" baseline="0" dirty="0" smtClean="0"/>
                        <a:t>Bits(7:0) – Command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Send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</a:t>
                      </a:r>
                      <a:r>
                        <a:rPr lang="en-US" baseline="0" dirty="0" smtClean="0"/>
                        <a:t> </a:t>
                      </a:r>
                      <a:r>
                        <a:rPr lang="he-IL" baseline="0" dirty="0" smtClean="0"/>
                        <a:t>31</a:t>
                      </a:r>
                      <a:r>
                        <a:rPr lang="en-US" baseline="0" dirty="0" smtClean="0"/>
                        <a:t>:1 </a:t>
                      </a:r>
                      <a:r>
                        <a:rPr lang="en-US" baseline="0" dirty="0" smtClean="0"/>
                        <a:t>– NA</a:t>
                      </a:r>
                    </a:p>
                    <a:p>
                      <a:r>
                        <a:rPr lang="en-US" baseline="0" dirty="0" smtClean="0"/>
                        <a:t>Bit 0-  ‘1’ – Send data to Flash memory</a:t>
                      </a:r>
                    </a:p>
                    <a:p>
                      <a:r>
                        <a:rPr lang="en-US" baseline="0" dirty="0" smtClean="0"/>
                        <a:t>‘0’- Idle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6005" y="153909"/>
            <a:ext cx="1893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/>
              <a:t>Registers File: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149678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Main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3911396" y="796070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2803429" y="743580"/>
            <a:ext cx="1223643" cy="1811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28325" y="733947"/>
            <a:ext cx="199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‘1’ and initialization state machine done = ‘1’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7087732" y="79606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command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</p:cNvCxnSpPr>
          <p:nvPr/>
        </p:nvCxnSpPr>
        <p:spPr>
          <a:xfrm>
            <a:off x="4701284" y="1235237"/>
            <a:ext cx="2386449" cy="29234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6972" y="452380"/>
            <a:ext cx="1543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2159895" y="1235237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‘0’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3440105" y="1144524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" name="Straight Arrow Connector 17"/>
          <p:cNvCxnSpPr>
            <a:endCxn id="23" idx="1"/>
          </p:cNvCxnSpPr>
          <p:nvPr/>
        </p:nvCxnSpPr>
        <p:spPr>
          <a:xfrm>
            <a:off x="8107172" y="1753872"/>
            <a:ext cx="1822749" cy="47318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756797" y="2063378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status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8658" y="1854548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06h</a:t>
            </a:r>
            <a:endParaRPr lang="en-US" sz="1200" dirty="0"/>
          </a:p>
        </p:txBody>
      </p:sp>
      <p:sp>
        <p:nvSpPr>
          <p:cNvPr id="26" name="Oval 25"/>
          <p:cNvSpPr/>
          <p:nvPr/>
        </p:nvSpPr>
        <p:spPr>
          <a:xfrm>
            <a:off x="5387577" y="233252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enabled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8" idx="3"/>
            <a:endCxn id="26" idx="7"/>
          </p:cNvCxnSpPr>
          <p:nvPr/>
        </p:nvCxnSpPr>
        <p:spPr>
          <a:xfrm flipH="1">
            <a:off x="6396616" y="1750064"/>
            <a:ext cx="864240" cy="7461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77214" y="1469444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05h or 70h</a:t>
            </a:r>
            <a:endParaRPr lang="en-US" sz="1200" dirty="0"/>
          </a:p>
        </p:txBody>
      </p:sp>
      <p:sp>
        <p:nvSpPr>
          <p:cNvPr id="38" name="Oval 37"/>
          <p:cNvSpPr/>
          <p:nvPr/>
        </p:nvSpPr>
        <p:spPr>
          <a:xfrm>
            <a:off x="7429153" y="2701797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Fast Read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>
            <a:endCxn id="38" idx="0"/>
          </p:cNvCxnSpPr>
          <p:nvPr/>
        </p:nvCxnSpPr>
        <p:spPr>
          <a:xfrm>
            <a:off x="7686304" y="1931109"/>
            <a:ext cx="333931" cy="77068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13326" y="2034539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0Bh</a:t>
            </a:r>
            <a:endParaRPr lang="en-US" sz="1200" dirty="0"/>
          </a:p>
        </p:txBody>
      </p:sp>
      <p:cxnSp>
        <p:nvCxnSpPr>
          <p:cNvPr id="43" name="Straight Arrow Connector 42"/>
          <p:cNvCxnSpPr>
            <a:stCxn id="26" idx="3"/>
            <a:endCxn id="47" idx="7"/>
          </p:cNvCxnSpPr>
          <p:nvPr/>
        </p:nvCxnSpPr>
        <p:spPr>
          <a:xfrm flipH="1">
            <a:off x="4784746" y="3286519"/>
            <a:ext cx="775955" cy="3273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775707" y="345019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command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10663" y="3091360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‘1’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 rot="19523569">
            <a:off x="4214071" y="198463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‘0’</a:t>
            </a:r>
            <a:endParaRPr lang="en-US" sz="1200" dirty="0"/>
          </a:p>
        </p:txBody>
      </p:sp>
      <p:sp>
        <p:nvSpPr>
          <p:cNvPr id="53" name="Freeform 52"/>
          <p:cNvSpPr/>
          <p:nvPr/>
        </p:nvSpPr>
        <p:spPr>
          <a:xfrm rot="3730501">
            <a:off x="4967704" y="2097593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Oval 54"/>
          <p:cNvSpPr/>
          <p:nvPr/>
        </p:nvSpPr>
        <p:spPr>
          <a:xfrm>
            <a:off x="1742179" y="4643618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Sector Erase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6" name="Straight Arrow Connector 55"/>
          <p:cNvCxnSpPr>
            <a:endCxn id="55" idx="7"/>
          </p:cNvCxnSpPr>
          <p:nvPr/>
        </p:nvCxnSpPr>
        <p:spPr>
          <a:xfrm flipH="1">
            <a:off x="2751218" y="4209125"/>
            <a:ext cx="1076865" cy="59817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89486" y="4059996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D8h</a:t>
            </a:r>
            <a:endParaRPr lang="en-US" sz="1200" dirty="0"/>
          </a:p>
        </p:txBody>
      </p:sp>
      <p:cxnSp>
        <p:nvCxnSpPr>
          <p:cNvPr id="59" name="Straight Arrow Connector 58"/>
          <p:cNvCxnSpPr>
            <a:endCxn id="62" idx="0"/>
          </p:cNvCxnSpPr>
          <p:nvPr/>
        </p:nvCxnSpPr>
        <p:spPr>
          <a:xfrm>
            <a:off x="4600791" y="4534109"/>
            <a:ext cx="309109" cy="56038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4318818" y="5094492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8 bits command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80596" y="4699025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</a:t>
            </a:r>
            <a:r>
              <a:rPr lang="en-US" sz="1200" dirty="0" smtClean="0"/>
              <a:t>81h </a:t>
            </a:r>
            <a:r>
              <a:rPr lang="en-US" sz="1200" dirty="0"/>
              <a:t>or 61h</a:t>
            </a:r>
            <a:endParaRPr lang="en-US" sz="1200" dirty="0"/>
          </a:p>
        </p:txBody>
      </p:sp>
      <p:sp>
        <p:nvSpPr>
          <p:cNvPr id="68" name="Oval 67"/>
          <p:cNvSpPr/>
          <p:nvPr/>
        </p:nvSpPr>
        <p:spPr>
          <a:xfrm>
            <a:off x="6485581" y="507203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16 bits command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4882764" y="4288589"/>
            <a:ext cx="1686976" cy="104946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endCxn id="73" idx="1"/>
          </p:cNvCxnSpPr>
          <p:nvPr/>
        </p:nvCxnSpPr>
        <p:spPr>
          <a:xfrm>
            <a:off x="4953188" y="4031921"/>
            <a:ext cx="3997150" cy="3521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777214" y="422037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Data to the QSPI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 rot="430485">
            <a:off x="5778702" y="4589550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B1h</a:t>
            </a:r>
            <a:endParaRPr lang="en-US" sz="1200" dirty="0"/>
          </a:p>
        </p:txBody>
      </p:sp>
      <p:sp>
        <p:nvSpPr>
          <p:cNvPr id="77" name="TextBox 76"/>
          <p:cNvSpPr txBox="1"/>
          <p:nvPr/>
        </p:nvSpPr>
        <p:spPr>
          <a:xfrm rot="283979">
            <a:off x="6193460" y="385922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</a:t>
            </a:r>
            <a:r>
              <a:rPr lang="en-US" sz="1200" dirty="0" smtClean="0"/>
              <a:t>02h</a:t>
            </a:r>
            <a:endParaRPr lang="en-US" sz="1200" dirty="0"/>
          </a:p>
        </p:txBody>
      </p:sp>
      <p:sp>
        <p:nvSpPr>
          <p:cNvPr id="78" name="Freeform 77"/>
          <p:cNvSpPr/>
          <p:nvPr/>
        </p:nvSpPr>
        <p:spPr>
          <a:xfrm>
            <a:off x="1460694" y="1675373"/>
            <a:ext cx="7883966" cy="5053623"/>
          </a:xfrm>
          <a:custGeom>
            <a:avLst/>
            <a:gdLst>
              <a:gd name="connsiteX0" fmla="*/ 7883966 w 7883966"/>
              <a:gd name="connsiteY0" fmla="*/ 3665220 h 5053623"/>
              <a:gd name="connsiteX1" fmla="*/ 6687626 w 7883966"/>
              <a:gd name="connsiteY1" fmla="*/ 4732020 h 5053623"/>
              <a:gd name="connsiteX2" fmla="*/ 1071686 w 7883966"/>
              <a:gd name="connsiteY2" fmla="*/ 4907280 h 5053623"/>
              <a:gd name="connsiteX3" fmla="*/ 88706 w 7883966"/>
              <a:gd name="connsiteY3" fmla="*/ 2766060 h 5053623"/>
              <a:gd name="connsiteX4" fmla="*/ 2313746 w 7883966"/>
              <a:gd name="connsiteY4" fmla="*/ 822960 h 5053623"/>
              <a:gd name="connsiteX5" fmla="*/ 2885246 w 7883966"/>
              <a:gd name="connsiteY5" fmla="*/ 0 h 505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83966" h="5053623">
                <a:moveTo>
                  <a:pt x="7883966" y="3665220"/>
                </a:moveTo>
                <a:cubicBezTo>
                  <a:pt x="7853486" y="4095115"/>
                  <a:pt x="7823006" y="4525010"/>
                  <a:pt x="6687626" y="4732020"/>
                </a:cubicBezTo>
                <a:cubicBezTo>
                  <a:pt x="5552246" y="4939030"/>
                  <a:pt x="2171506" y="5234940"/>
                  <a:pt x="1071686" y="4907280"/>
                </a:cubicBezTo>
                <a:cubicBezTo>
                  <a:pt x="-28134" y="4579620"/>
                  <a:pt x="-118304" y="3446780"/>
                  <a:pt x="88706" y="2766060"/>
                </a:cubicBezTo>
                <a:cubicBezTo>
                  <a:pt x="295716" y="2085340"/>
                  <a:pt x="1847656" y="1283970"/>
                  <a:pt x="2313746" y="822960"/>
                </a:cubicBezTo>
                <a:cubicBezTo>
                  <a:pt x="2779836" y="361950"/>
                  <a:pt x="2832541" y="180975"/>
                  <a:pt x="2885246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Freeform 78"/>
          <p:cNvSpPr/>
          <p:nvPr/>
        </p:nvSpPr>
        <p:spPr>
          <a:xfrm>
            <a:off x="6929120" y="6171173"/>
            <a:ext cx="327660" cy="396240"/>
          </a:xfrm>
          <a:custGeom>
            <a:avLst/>
            <a:gdLst>
              <a:gd name="connsiteX0" fmla="*/ 327660 w 327660"/>
              <a:gd name="connsiteY0" fmla="*/ 0 h 396240"/>
              <a:gd name="connsiteX1" fmla="*/ 0 w 327660"/>
              <a:gd name="connsiteY1" fmla="*/ 396240 h 39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7660" h="396240">
                <a:moveTo>
                  <a:pt x="327660" y="0"/>
                </a:moveTo>
                <a:cubicBezTo>
                  <a:pt x="199390" y="164465"/>
                  <a:pt x="71120" y="328930"/>
                  <a:pt x="0" y="39624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0" name="Freeform 79"/>
          <p:cNvSpPr/>
          <p:nvPr/>
        </p:nvSpPr>
        <p:spPr>
          <a:xfrm>
            <a:off x="4361180" y="6194033"/>
            <a:ext cx="518160" cy="510540"/>
          </a:xfrm>
          <a:custGeom>
            <a:avLst/>
            <a:gdLst>
              <a:gd name="connsiteX0" fmla="*/ 518160 w 518160"/>
              <a:gd name="connsiteY0" fmla="*/ 0 h 510540"/>
              <a:gd name="connsiteX1" fmla="*/ 0 w 518160"/>
              <a:gd name="connsiteY1" fmla="*/ 510540 h 51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 h="510540">
                <a:moveTo>
                  <a:pt x="518160" y="0"/>
                </a:moveTo>
                <a:lnTo>
                  <a:pt x="0" y="510540"/>
                </a:ln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Freeform 80"/>
          <p:cNvSpPr/>
          <p:nvPr/>
        </p:nvSpPr>
        <p:spPr>
          <a:xfrm>
            <a:off x="1811241" y="4060433"/>
            <a:ext cx="103919" cy="723900"/>
          </a:xfrm>
          <a:custGeom>
            <a:avLst/>
            <a:gdLst>
              <a:gd name="connsiteX0" fmla="*/ 103919 w 103919"/>
              <a:gd name="connsiteY0" fmla="*/ 723900 h 723900"/>
              <a:gd name="connsiteX1" fmla="*/ 12479 w 103919"/>
              <a:gd name="connsiteY1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19" h="723900">
                <a:moveTo>
                  <a:pt x="103919" y="723900"/>
                </a:moveTo>
                <a:cubicBezTo>
                  <a:pt x="37879" y="449580"/>
                  <a:pt x="-28161" y="175260"/>
                  <a:pt x="12479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TextBox 81"/>
          <p:cNvSpPr txBox="1"/>
          <p:nvPr/>
        </p:nvSpPr>
        <p:spPr>
          <a:xfrm rot="21379083">
            <a:off x="5842900" y="6253857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 rot="21379083">
            <a:off x="3237313" y="6332081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4" name="TextBox 83"/>
          <p:cNvSpPr txBox="1"/>
          <p:nvPr/>
        </p:nvSpPr>
        <p:spPr>
          <a:xfrm rot="19323601">
            <a:off x="1516508" y="3344618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5" name="TextBox 84"/>
          <p:cNvSpPr txBox="1"/>
          <p:nvPr/>
        </p:nvSpPr>
        <p:spPr>
          <a:xfrm rot="19323601">
            <a:off x="8510079" y="607235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6" name="Freeform 85"/>
          <p:cNvSpPr/>
          <p:nvPr/>
        </p:nvSpPr>
        <p:spPr>
          <a:xfrm>
            <a:off x="4582160" y="371628"/>
            <a:ext cx="7352868" cy="3423269"/>
          </a:xfrm>
          <a:custGeom>
            <a:avLst/>
            <a:gdLst>
              <a:gd name="connsiteX0" fmla="*/ 3954780 w 7352868"/>
              <a:gd name="connsiteY0" fmla="*/ 3178265 h 3423269"/>
              <a:gd name="connsiteX1" fmla="*/ 6545580 w 7352868"/>
              <a:gd name="connsiteY1" fmla="*/ 3330665 h 3423269"/>
              <a:gd name="connsiteX2" fmla="*/ 7261860 w 7352868"/>
              <a:gd name="connsiteY2" fmla="*/ 1936205 h 3423269"/>
              <a:gd name="connsiteX3" fmla="*/ 4792980 w 7352868"/>
              <a:gd name="connsiteY3" fmla="*/ 54065 h 3423269"/>
              <a:gd name="connsiteX4" fmla="*/ 0 w 7352868"/>
              <a:gd name="connsiteY4" fmla="*/ 511265 h 34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2868" h="3423269">
                <a:moveTo>
                  <a:pt x="3954780" y="3178265"/>
                </a:moveTo>
                <a:cubicBezTo>
                  <a:pt x="4974590" y="3357970"/>
                  <a:pt x="5994400" y="3537675"/>
                  <a:pt x="6545580" y="3330665"/>
                </a:cubicBezTo>
                <a:cubicBezTo>
                  <a:pt x="7096760" y="3123655"/>
                  <a:pt x="7553960" y="2482305"/>
                  <a:pt x="7261860" y="1936205"/>
                </a:cubicBezTo>
                <a:cubicBezTo>
                  <a:pt x="6969760" y="1390105"/>
                  <a:pt x="6003290" y="291555"/>
                  <a:pt x="4792980" y="54065"/>
                </a:cubicBezTo>
                <a:cubicBezTo>
                  <a:pt x="3582670" y="-183425"/>
                  <a:pt x="787400" y="433795"/>
                  <a:pt x="0" y="511265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6"/>
          <p:cNvSpPr/>
          <p:nvPr/>
        </p:nvSpPr>
        <p:spPr>
          <a:xfrm>
            <a:off x="10944860" y="1462013"/>
            <a:ext cx="296587" cy="1082040"/>
          </a:xfrm>
          <a:custGeom>
            <a:avLst/>
            <a:gdLst>
              <a:gd name="connsiteX0" fmla="*/ 0 w 296587"/>
              <a:gd name="connsiteY0" fmla="*/ 1082040 h 1082040"/>
              <a:gd name="connsiteX1" fmla="*/ 281940 w 296587"/>
              <a:gd name="connsiteY1" fmla="*/ 304800 h 1082040"/>
              <a:gd name="connsiteX2" fmla="*/ 259080 w 296587"/>
              <a:gd name="connsiteY2" fmla="*/ 0 h 108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587" h="1082040">
                <a:moveTo>
                  <a:pt x="0" y="1082040"/>
                </a:moveTo>
                <a:cubicBezTo>
                  <a:pt x="119380" y="783590"/>
                  <a:pt x="238760" y="485140"/>
                  <a:pt x="281940" y="304800"/>
                </a:cubicBezTo>
                <a:cubicBezTo>
                  <a:pt x="325120" y="124460"/>
                  <a:pt x="259080" y="0"/>
                  <a:pt x="259080" y="0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549913" y="3429042"/>
            <a:ext cx="1200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</a:t>
            </a:r>
            <a:endParaRPr lang="en-US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10175303" y="1397405"/>
            <a:ext cx="1200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699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Initialization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123236" y="1726737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16169" y="1829735"/>
            <a:ext cx="989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176121" y="143923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command 06h(enable write) on 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 flipV="1">
            <a:off x="2913124" y="2140272"/>
            <a:ext cx="2262997" cy="256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2640" y="2140272"/>
            <a:ext cx="91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‘0’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1651945" y="2075191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Oval 49"/>
          <p:cNvSpPr/>
          <p:nvPr/>
        </p:nvSpPr>
        <p:spPr>
          <a:xfrm>
            <a:off x="8669857" y="1440644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command B1h(write non vol.reg) on 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8" idx="6"/>
            <a:endCxn id="50" idx="2"/>
          </p:cNvCxnSpPr>
          <p:nvPr/>
        </p:nvCxnSpPr>
        <p:spPr>
          <a:xfrm>
            <a:off x="6673588" y="2140272"/>
            <a:ext cx="1996269" cy="14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85084" y="1696805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command= ‘1’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9418591" y="3133988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command= ‘1’</a:t>
            </a:r>
            <a:endParaRPr lang="en-US" sz="1200" dirty="0"/>
          </a:p>
        </p:txBody>
      </p:sp>
      <p:sp>
        <p:nvSpPr>
          <p:cNvPr id="60" name="Oval 59"/>
          <p:cNvSpPr/>
          <p:nvPr/>
        </p:nvSpPr>
        <p:spPr>
          <a:xfrm>
            <a:off x="8669858" y="387268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</a:t>
            </a:r>
            <a:r>
              <a:rPr lang="he-IL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16 </a:t>
            </a:r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Bit Data F7AFh on </a:t>
            </a:r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5" name="Straight Arrow Connector 64"/>
          <p:cNvCxnSpPr>
            <a:stCxn id="50" idx="4"/>
            <a:endCxn id="60" idx="0"/>
          </p:cNvCxnSpPr>
          <p:nvPr/>
        </p:nvCxnSpPr>
        <p:spPr>
          <a:xfrm>
            <a:off x="9418591" y="2842724"/>
            <a:ext cx="1" cy="10299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0" idx="2"/>
          </p:cNvCxnSpPr>
          <p:nvPr/>
        </p:nvCxnSpPr>
        <p:spPr>
          <a:xfrm flipH="1">
            <a:off x="6448724" y="4573722"/>
            <a:ext cx="222113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694939" y="4084703"/>
            <a:ext cx="183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data = ‘1’</a:t>
            </a:r>
            <a:endParaRPr lang="en-US" sz="1200" dirty="0"/>
          </a:p>
        </p:txBody>
      </p:sp>
      <p:sp>
        <p:nvSpPr>
          <p:cNvPr id="90" name="Arc 89"/>
          <p:cNvSpPr/>
          <p:nvPr/>
        </p:nvSpPr>
        <p:spPr>
          <a:xfrm>
            <a:off x="5487500" y="100972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5609493" y="66105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2" name="Arc 91"/>
          <p:cNvSpPr/>
          <p:nvPr/>
        </p:nvSpPr>
        <p:spPr>
          <a:xfrm>
            <a:off x="8936585" y="9786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9058578" y="630006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4" name="Arc 93"/>
          <p:cNvSpPr/>
          <p:nvPr/>
        </p:nvSpPr>
        <p:spPr>
          <a:xfrm rot="5236067">
            <a:off x="9735238" y="41706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10642880" y="4311240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6" name="Oval 95"/>
          <p:cNvSpPr/>
          <p:nvPr/>
        </p:nvSpPr>
        <p:spPr>
          <a:xfrm>
            <a:off x="4936728" y="387268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Done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7" name="Arc 96"/>
          <p:cNvSpPr/>
          <p:nvPr/>
        </p:nvSpPr>
        <p:spPr>
          <a:xfrm rot="15695209">
            <a:off x="4475087" y="418659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3337811" y="3752935"/>
            <a:ext cx="183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data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06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Read status register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98216" y="1841037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2064062" y="1610203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10364" y="1802873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Main state machine = Read Status register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943642" y="180886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88104" y="2280204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64062" y="1362132"/>
            <a:ext cx="999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846715" y="2280204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Read Status </a:t>
            </a:r>
            <a:r>
              <a:rPr lang="en-US" sz="1200" dirty="0" smtClean="0"/>
              <a:t>register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126925" y="2189491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125805" y="2367698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424533" y="180886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Read data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125805" y="1771640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60" name="Oval 59"/>
          <p:cNvSpPr/>
          <p:nvPr/>
        </p:nvSpPr>
        <p:spPr>
          <a:xfrm>
            <a:off x="5943641" y="395770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the Data to the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Read </a:t>
            </a:r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1" name="Straight Arrow Connector 60"/>
          <p:cNvCxnSpPr>
            <a:stCxn id="51" idx="3"/>
            <a:endCxn id="60" idx="6"/>
          </p:cNvCxnSpPr>
          <p:nvPr/>
        </p:nvCxnSpPr>
        <p:spPr>
          <a:xfrm flipH="1">
            <a:off x="7125804" y="2762855"/>
            <a:ext cx="2471853" cy="175368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20043548">
            <a:off x="6988645" y="333408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Read data process done = ‘1’</a:t>
            </a:r>
            <a:endParaRPr lang="en-US" sz="1200" dirty="0"/>
          </a:p>
        </p:txBody>
      </p:sp>
      <p:cxnSp>
        <p:nvCxnSpPr>
          <p:cNvPr id="67" name="Straight Arrow Connector 66"/>
          <p:cNvCxnSpPr>
            <a:endCxn id="2" idx="5"/>
          </p:cNvCxnSpPr>
          <p:nvPr/>
        </p:nvCxnSpPr>
        <p:spPr>
          <a:xfrm flipH="1" flipV="1">
            <a:off x="3272428" y="2590742"/>
            <a:ext cx="2671213" cy="182477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/>
          <p:cNvSpPr/>
          <p:nvPr/>
        </p:nvSpPr>
        <p:spPr>
          <a:xfrm>
            <a:off x="6085634" y="1364952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6207627" y="101627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76" name="Arc 75"/>
          <p:cNvSpPr/>
          <p:nvPr/>
        </p:nvSpPr>
        <p:spPr>
          <a:xfrm>
            <a:off x="9559350" y="1391168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9681343" y="1042494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295316" y="5075375"/>
            <a:ext cx="2977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Notes:</a:t>
            </a:r>
            <a:r>
              <a:rPr lang="en-US" sz="1600" dirty="0" smtClean="0"/>
              <a:t> No dummy cycles when reading status registers</a:t>
            </a:r>
            <a:endParaRPr lang="en-US" sz="1600" u="sng" dirty="0"/>
          </a:p>
        </p:txBody>
      </p:sp>
    </p:spTree>
    <p:extLst>
      <p:ext uri="{BB962C8B-B14F-4D97-AF65-F5344CB8AC3E}">
        <p14:creationId xmlns:p14="http://schemas.microsoft.com/office/powerpoint/2010/main" val="386383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Fast Read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Main state machine = </a:t>
            </a:r>
            <a:r>
              <a:rPr lang="en-US" sz="1200" dirty="0"/>
              <a:t>Fast Read</a:t>
            </a:r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Fast Read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9205001" y="5381593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Address</a:t>
            </a: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1" name="Straight Arrow Connector 60"/>
          <p:cNvCxnSpPr>
            <a:stCxn id="51" idx="4"/>
            <a:endCxn id="60" idx="0"/>
          </p:cNvCxnSpPr>
          <p:nvPr/>
        </p:nvCxnSpPr>
        <p:spPr>
          <a:xfrm flipH="1">
            <a:off x="9796083" y="2374271"/>
            <a:ext cx="150952" cy="30073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172942">
            <a:off x="7448123" y="5304833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  <a:endParaRPr lang="en-US" sz="1200" dirty="0"/>
          </a:p>
        </p:txBody>
      </p:sp>
      <p:cxnSp>
        <p:nvCxnSpPr>
          <p:cNvPr id="67" name="Straight Arrow Connector 66"/>
          <p:cNvCxnSpPr>
            <a:stCxn id="60" idx="2"/>
          </p:cNvCxnSpPr>
          <p:nvPr/>
        </p:nvCxnSpPr>
        <p:spPr>
          <a:xfrm flipH="1" flipV="1">
            <a:off x="6603488" y="5782212"/>
            <a:ext cx="2601513" cy="1582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421325" y="524754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Wait 10 dummy cycles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172942">
            <a:off x="1207592" y="4495092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Read data process done = ‘1’</a:t>
            </a:r>
            <a:endParaRPr lang="en-US" sz="1200" dirty="0"/>
          </a:p>
        </p:txBody>
      </p:sp>
      <p:sp>
        <p:nvSpPr>
          <p:cNvPr id="28" name="Oval 27"/>
          <p:cNvSpPr/>
          <p:nvPr/>
        </p:nvSpPr>
        <p:spPr>
          <a:xfrm>
            <a:off x="2359621" y="287044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the Data to the Read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5" idx="2"/>
            <a:endCxn id="49" idx="6"/>
          </p:cNvCxnSpPr>
          <p:nvPr/>
        </p:nvCxnSpPr>
        <p:spPr>
          <a:xfrm flipH="1">
            <a:off x="3407245" y="5806384"/>
            <a:ext cx="201408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0"/>
            <a:endCxn id="2" idx="4"/>
          </p:cNvCxnSpPr>
          <p:nvPr/>
        </p:nvCxnSpPr>
        <p:spPr>
          <a:xfrm flipH="1" flipV="1">
            <a:off x="2924580" y="2167107"/>
            <a:ext cx="26123" cy="70333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21142" y="5335957"/>
            <a:ext cx="1900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Dummy cycles done = ‘1’</a:t>
            </a:r>
            <a:endParaRPr lang="en-US" sz="1200" dirty="0"/>
          </a:p>
        </p:txBody>
      </p:sp>
      <p:sp>
        <p:nvSpPr>
          <p:cNvPr id="35" name="Arc 34"/>
          <p:cNvSpPr/>
          <p:nvPr/>
        </p:nvSpPr>
        <p:spPr>
          <a:xfrm rot="3662883">
            <a:off x="9873685" y="5318048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0273525" y="4970272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1" name="Arc 40"/>
          <p:cNvSpPr/>
          <p:nvPr/>
        </p:nvSpPr>
        <p:spPr>
          <a:xfrm>
            <a:off x="5547614" y="48004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791600" y="446871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225082" y="524754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4" name="Straight Arrow Connector 53"/>
          <p:cNvCxnSpPr>
            <a:endCxn id="28" idx="4"/>
          </p:cNvCxnSpPr>
          <p:nvPr/>
        </p:nvCxnSpPr>
        <p:spPr>
          <a:xfrm flipV="1">
            <a:off x="2829225" y="3988115"/>
            <a:ext cx="121478" cy="125915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871559" y="3512777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2367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165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Data to the QSPI</a:t>
            </a:r>
          </a:p>
          <a:p>
            <a:r>
              <a:rPr lang="en-US" sz="1600" u="sng" dirty="0" smtClean="0"/>
              <a:t>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data to QSPI</a:t>
            </a:r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and Data Write Registers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data to QSPI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  <p:cxnSp>
        <p:nvCxnSpPr>
          <p:cNvPr id="61" name="Straight Arrow Connector 60"/>
          <p:cNvCxnSpPr>
            <a:endCxn id="25" idx="6"/>
          </p:cNvCxnSpPr>
          <p:nvPr/>
        </p:nvCxnSpPr>
        <p:spPr>
          <a:xfrm flipH="1">
            <a:off x="6743701" y="5381591"/>
            <a:ext cx="224065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20240" y="4733542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  <a:endParaRPr lang="en-US" sz="1200" dirty="0"/>
          </a:p>
        </p:txBody>
      </p:sp>
      <p:sp>
        <p:nvSpPr>
          <p:cNvPr id="25" name="Oval 24"/>
          <p:cNvSpPr/>
          <p:nvPr/>
        </p:nvSpPr>
        <p:spPr>
          <a:xfrm>
            <a:off x="5561538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172942">
            <a:off x="3086128" y="343993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  <a:endParaRPr lang="en-US" sz="1200" dirty="0"/>
          </a:p>
        </p:txBody>
      </p:sp>
      <p:cxnSp>
        <p:nvCxnSpPr>
          <p:cNvPr id="29" name="Straight Arrow Connector 28"/>
          <p:cNvCxnSpPr>
            <a:stCxn id="25" idx="2"/>
            <a:endCxn id="2" idx="5"/>
          </p:cNvCxnSpPr>
          <p:nvPr/>
        </p:nvCxnSpPr>
        <p:spPr>
          <a:xfrm flipH="1" flipV="1">
            <a:off x="3203848" y="2038478"/>
            <a:ext cx="2357690" cy="334311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1" name="Arc 40"/>
          <p:cNvSpPr/>
          <p:nvPr/>
        </p:nvSpPr>
        <p:spPr>
          <a:xfrm>
            <a:off x="5689854" y="43940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933840" y="406231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984356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endCxn id="44" idx="0"/>
          </p:cNvCxnSpPr>
          <p:nvPr/>
        </p:nvCxnSpPr>
        <p:spPr>
          <a:xfrm flipH="1">
            <a:off x="9575438" y="2401545"/>
            <a:ext cx="317834" cy="24212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734355" y="3294176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47" name="Arc 46"/>
          <p:cNvSpPr/>
          <p:nvPr/>
        </p:nvSpPr>
        <p:spPr>
          <a:xfrm rot="4472728">
            <a:off x="9653798" y="489045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150426">
            <a:off x="10096559" y="459504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85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Sector Erase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= Sector erase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Registers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Sector erase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  <p:cxnSp>
        <p:nvCxnSpPr>
          <p:cNvPr id="61" name="Straight Arrow Connector 60"/>
          <p:cNvCxnSpPr>
            <a:endCxn id="2" idx="5"/>
          </p:cNvCxnSpPr>
          <p:nvPr/>
        </p:nvCxnSpPr>
        <p:spPr>
          <a:xfrm flipH="1" flipV="1">
            <a:off x="3203848" y="2038478"/>
            <a:ext cx="5780509" cy="334311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7155" y="4250539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  <a:endParaRPr lang="en-US" sz="1200" dirty="0"/>
          </a:p>
        </p:txBody>
      </p: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984356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endCxn id="44" idx="0"/>
          </p:cNvCxnSpPr>
          <p:nvPr/>
        </p:nvCxnSpPr>
        <p:spPr>
          <a:xfrm flipH="1">
            <a:off x="9575438" y="2401545"/>
            <a:ext cx="317834" cy="24212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734355" y="3294176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47" name="Arc 46"/>
          <p:cNvSpPr/>
          <p:nvPr/>
        </p:nvSpPr>
        <p:spPr>
          <a:xfrm rot="4472728">
            <a:off x="9653798" y="489045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150426">
            <a:off x="10096559" y="459504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961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013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8 bits </a:t>
            </a:r>
            <a:r>
              <a:rPr lang="en-US" sz="1600" u="sng" dirty="0" smtClean="0"/>
              <a:t>command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</a:t>
            </a:r>
            <a:r>
              <a:rPr lang="en-US" sz="1200" dirty="0" smtClean="0"/>
              <a:t>8 bits command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8 bits command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6592807" y="2366483"/>
            <a:ext cx="413574" cy="13327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99594" y="2610882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466143" y="3699192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Data</a:t>
            </a: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" name="Arc 30"/>
          <p:cNvSpPr/>
          <p:nvPr/>
        </p:nvSpPr>
        <p:spPr>
          <a:xfrm rot="4472728">
            <a:off x="7135585" y="376689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 rot="1150426">
            <a:off x="7578346" y="347148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cxnSp>
        <p:nvCxnSpPr>
          <p:cNvPr id="33" name="Straight Arrow Connector 32"/>
          <p:cNvCxnSpPr>
            <a:stCxn id="30" idx="2"/>
            <a:endCxn id="2" idx="5"/>
          </p:cNvCxnSpPr>
          <p:nvPr/>
        </p:nvCxnSpPr>
        <p:spPr>
          <a:xfrm flipH="1" flipV="1">
            <a:off x="3203848" y="2038478"/>
            <a:ext cx="3262295" cy="221955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74802" y="327991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224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349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</a:t>
            </a:r>
            <a:r>
              <a:rPr lang="en-US" sz="1600" u="sng" dirty="0" smtClean="0"/>
              <a:t>16 </a:t>
            </a:r>
            <a:r>
              <a:rPr lang="en-US" sz="1600" u="sng" dirty="0"/>
              <a:t>bits </a:t>
            </a:r>
            <a:r>
              <a:rPr lang="en-US" sz="1600" u="sng" dirty="0" smtClean="0"/>
              <a:t>command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</a:t>
            </a:r>
            <a:r>
              <a:rPr lang="en-US" sz="1200" dirty="0" smtClean="0"/>
              <a:t>16 bits command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</a:t>
            </a:r>
            <a:r>
              <a:rPr lang="en-US" sz="1200" dirty="0" smtClean="0"/>
              <a:t>16 </a:t>
            </a:r>
            <a:r>
              <a:rPr lang="en-US" sz="1200" dirty="0"/>
              <a:t>bits command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4"/>
            <a:endCxn id="26" idx="0"/>
          </p:cNvCxnSpPr>
          <p:nvPr/>
        </p:nvCxnSpPr>
        <p:spPr>
          <a:xfrm>
            <a:off x="6466144" y="2374271"/>
            <a:ext cx="562220" cy="12357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69445" y="2531033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5316" y="5075375"/>
            <a:ext cx="2977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Notes:</a:t>
            </a:r>
            <a:r>
              <a:rPr lang="en-US" sz="1600" dirty="0" smtClean="0"/>
              <a:t> LSB sending first, see example for writing FEF8h to the non volatile register :</a:t>
            </a:r>
            <a:endParaRPr lang="en-US" sz="1600" u="sng" dirty="0"/>
          </a:p>
        </p:txBody>
      </p:sp>
      <p:sp>
        <p:nvSpPr>
          <p:cNvPr id="3" name="Rectangle 2"/>
          <p:cNvSpPr/>
          <p:nvPr/>
        </p:nvSpPr>
        <p:spPr>
          <a:xfrm>
            <a:off x="3769360" y="5283200"/>
            <a:ext cx="2495668" cy="497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F8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265028" y="5283200"/>
            <a:ext cx="2495668" cy="497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14071" y="4939723"/>
            <a:ext cx="806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LSByte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982266" y="4913868"/>
            <a:ext cx="90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MSByte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800190" y="6097299"/>
            <a:ext cx="813881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00190" y="6228893"/>
            <a:ext cx="247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sending direction…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6408421" y="3609980"/>
            <a:ext cx="1239886" cy="12068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nonvolatile 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7" name="Arc 26"/>
          <p:cNvSpPr/>
          <p:nvPr/>
        </p:nvSpPr>
        <p:spPr>
          <a:xfrm rot="4872224">
            <a:off x="7205900" y="3772784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 rot="1150426">
            <a:off x="7578346" y="347148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cxnSp>
        <p:nvCxnSpPr>
          <p:cNvPr id="29" name="Straight Arrow Connector 28"/>
          <p:cNvCxnSpPr>
            <a:stCxn id="26" idx="2"/>
          </p:cNvCxnSpPr>
          <p:nvPr/>
        </p:nvCxnSpPr>
        <p:spPr>
          <a:xfrm flipH="1" flipV="1">
            <a:off x="3203849" y="2038478"/>
            <a:ext cx="3204572" cy="217494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74802" y="327991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91350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816</Words>
  <Application>Microsoft Office PowerPoint</Application>
  <PresentationFormat>Widescreen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ofer k</dc:creator>
  <cp:lastModifiedBy>ofer k</cp:lastModifiedBy>
  <cp:revision>87</cp:revision>
  <dcterms:created xsi:type="dcterms:W3CDTF">2021-03-20T15:41:14Z</dcterms:created>
  <dcterms:modified xsi:type="dcterms:W3CDTF">2021-03-22T21:01:14Z</dcterms:modified>
</cp:coreProperties>
</file>