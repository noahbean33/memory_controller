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60" r:id="rId7"/>
    <p:sldId id="264" r:id="rId8"/>
    <p:sldId id="269" r:id="rId9"/>
    <p:sldId id="272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7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858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19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49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64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51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13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68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16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82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14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6F8B7-0A65-4784-8849-143608BAE323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CCBDC-B9E1-44A9-94CF-06F985996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1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104524"/>
            <a:ext cx="1520981" cy="46353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User (PC/Another FPGA </a:t>
            </a:r>
            <a:r>
              <a:rPr lang="en-US" sz="2000" b="1" dirty="0" err="1" smtClean="0">
                <a:solidFill>
                  <a:schemeClr val="tx1"/>
                </a:solidFill>
              </a:rPr>
              <a:t>etc</a:t>
            </a:r>
            <a:r>
              <a:rPr lang="en-US" sz="2000" b="1" dirty="0" smtClean="0">
                <a:solidFill>
                  <a:schemeClr val="tx1"/>
                </a:solidFill>
              </a:rPr>
              <a:t>)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45259" y="1104523"/>
            <a:ext cx="7677339" cy="46353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</a:rPr>
              <a:t>FPGA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45259" y="1602461"/>
            <a:ext cx="1777497" cy="3802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Register File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71177" y="1602461"/>
            <a:ext cx="5151422" cy="39677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QSPI Controller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71019" y="1104523"/>
            <a:ext cx="1520981" cy="46353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QSPI Flash </a:t>
            </a:r>
            <a:r>
              <a:rPr lang="en-US" sz="2000" b="1" dirty="0" err="1" smtClean="0">
                <a:solidFill>
                  <a:schemeClr val="tx1"/>
                </a:solidFill>
              </a:rPr>
              <a:t>Mem</a:t>
            </a:r>
            <a:r>
              <a:rPr lang="en-US" sz="2000" b="1" dirty="0" smtClean="0">
                <a:solidFill>
                  <a:schemeClr val="tx1"/>
                </a:solidFill>
              </a:rPr>
              <a:t> Real component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4" idx="3"/>
            <a:endCxn id="5" idx="1"/>
          </p:cNvCxnSpPr>
          <p:nvPr/>
        </p:nvCxnSpPr>
        <p:spPr>
          <a:xfrm flipV="1">
            <a:off x="1520981" y="3422210"/>
            <a:ext cx="7242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025720" y="3302037"/>
            <a:ext cx="721314" cy="10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1520981" y="3730027"/>
            <a:ext cx="7242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4022756" y="3802455"/>
            <a:ext cx="748421" cy="18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9922598" y="2426329"/>
            <a:ext cx="748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9922598" y="2723585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9922598" y="3012352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9922598" y="3312059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671018" y="2213925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Clock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642379" y="2521123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DQ0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0656492" y="2822808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DQ1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0670227" y="3129952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DQ2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0670227" y="3417227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DQ3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0670226" y="3695889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CS</a:t>
            </a:r>
            <a:endParaRPr lang="en-US" dirty="0"/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9922598" y="3616859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9922598" y="3883559"/>
            <a:ext cx="748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918388" y="4838958"/>
            <a:ext cx="1990519" cy="6469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Nonvolatile Data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flipH="1">
            <a:off x="5768710" y="4245164"/>
            <a:ext cx="1779" cy="581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056118" y="2836641"/>
            <a:ext cx="1990519" cy="6469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Quad command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056118" y="3676307"/>
            <a:ext cx="1990519" cy="6469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Quad Address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056118" y="4495800"/>
            <a:ext cx="1990519" cy="5282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Quad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4795320" y="2378953"/>
            <a:ext cx="1728613" cy="186621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State machines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 flipV="1">
            <a:off x="6548076" y="3147113"/>
            <a:ext cx="532185" cy="151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36" idx="1"/>
          </p:cNvCxnSpPr>
          <p:nvPr/>
        </p:nvCxnSpPr>
        <p:spPr>
          <a:xfrm>
            <a:off x="6492847" y="3601893"/>
            <a:ext cx="563271" cy="397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0" idx="5"/>
          </p:cNvCxnSpPr>
          <p:nvPr/>
        </p:nvCxnSpPr>
        <p:spPr>
          <a:xfrm>
            <a:off x="6270783" y="3971864"/>
            <a:ext cx="778753" cy="739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049536" y="2213925"/>
            <a:ext cx="1990519" cy="5485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Read data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6323067" y="2521123"/>
            <a:ext cx="697830" cy="200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65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25513"/>
            <a:ext cx="12220639" cy="55769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TB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104524"/>
            <a:ext cx="1520981" cy="46353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TB process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45259" y="1104523"/>
            <a:ext cx="7677339" cy="46353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FPGA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45259" y="1602461"/>
            <a:ext cx="1777497" cy="38024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Register File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71177" y="1602461"/>
            <a:ext cx="5151422" cy="39677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QSPI Controller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671019" y="1104523"/>
            <a:ext cx="1520981" cy="46353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QSPI Flash Virtual component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056118" y="2836641"/>
            <a:ext cx="1990519" cy="6469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Quad command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8" idx="3"/>
            <a:endCxn id="9" idx="1"/>
          </p:cNvCxnSpPr>
          <p:nvPr/>
        </p:nvCxnSpPr>
        <p:spPr>
          <a:xfrm flipV="1">
            <a:off x="1520981" y="3422210"/>
            <a:ext cx="7242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025720" y="3302037"/>
            <a:ext cx="721314" cy="10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1520981" y="3730027"/>
            <a:ext cx="7242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4022756" y="3802455"/>
            <a:ext cx="748421" cy="18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9922598" y="2426329"/>
            <a:ext cx="748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9922598" y="2723585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9922598" y="3012352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9922598" y="3312059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671018" y="2213925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Clock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0642379" y="2521123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DQ0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0656492" y="2822808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DQ1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0670227" y="3129952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DQ2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0670227" y="3417227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DQ3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0670226" y="3695889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CS</a:t>
            </a:r>
            <a:endParaRPr lang="en-US" dirty="0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9922598" y="3616859"/>
            <a:ext cx="7484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9922598" y="3883559"/>
            <a:ext cx="748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056118" y="3676307"/>
            <a:ext cx="1990519" cy="6469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Quad Address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056118" y="4495800"/>
            <a:ext cx="1990519" cy="5282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Quad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4795320" y="2378953"/>
            <a:ext cx="1728613" cy="186621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State machines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6548076" y="3147113"/>
            <a:ext cx="532185" cy="151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30" idx="1"/>
          </p:cNvCxnSpPr>
          <p:nvPr/>
        </p:nvCxnSpPr>
        <p:spPr>
          <a:xfrm>
            <a:off x="6492847" y="3601893"/>
            <a:ext cx="563271" cy="397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2" idx="5"/>
          </p:cNvCxnSpPr>
          <p:nvPr/>
        </p:nvCxnSpPr>
        <p:spPr>
          <a:xfrm>
            <a:off x="6270783" y="3971864"/>
            <a:ext cx="778753" cy="739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4918388" y="4838958"/>
            <a:ext cx="1990519" cy="6469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Send Nonvolatile Data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 flipH="1">
            <a:off x="5768710" y="4245164"/>
            <a:ext cx="1779" cy="581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049536" y="2213925"/>
            <a:ext cx="1990519" cy="5485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Read data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6323067" y="2521123"/>
            <a:ext cx="697830" cy="200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846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448985"/>
              </p:ext>
            </p:extLst>
          </p:nvPr>
        </p:nvGraphicFramePr>
        <p:xfrm>
          <a:off x="628712" y="615574"/>
          <a:ext cx="8128000" cy="576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Reg</a:t>
                      </a:r>
                      <a:r>
                        <a:rPr lang="en-US" baseline="0" dirty="0" smtClean="0"/>
                        <a:t>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Reg</a:t>
                      </a:r>
                      <a:r>
                        <a:rPr lang="en-US" dirty="0" smtClean="0"/>
                        <a:t> 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Reg</a:t>
                      </a:r>
                      <a:r>
                        <a:rPr lang="en-US" dirty="0" smtClean="0"/>
                        <a:t> 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Reg</a:t>
                      </a:r>
                      <a:r>
                        <a:rPr lang="en-US" dirty="0" smtClean="0"/>
                        <a:t> initial Value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write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Bits(31:0)</a:t>
                      </a:r>
                      <a:r>
                        <a:rPr lang="en-US" baseline="0" dirty="0" smtClean="0"/>
                        <a:t> – Data Write to the QSPI flash memory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0x00000000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read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Bits(31:0)</a:t>
                      </a:r>
                      <a:r>
                        <a:rPr lang="en-US" baseline="0" dirty="0" smtClean="0"/>
                        <a:t> –  Data Read from the QSPI flash memory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0x00000000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Address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Bits(31:24)</a:t>
                      </a:r>
                      <a:r>
                        <a:rPr lang="en-US" baseline="0" dirty="0" smtClean="0"/>
                        <a:t> – NA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Bits(23:0)</a:t>
                      </a:r>
                      <a:r>
                        <a:rPr lang="en-US" baseline="0" dirty="0" smtClean="0"/>
                        <a:t> – The address of the QSPI flash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0x00000000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Command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Bits(31:8)</a:t>
                      </a:r>
                      <a:r>
                        <a:rPr lang="en-US" baseline="0" dirty="0" smtClean="0"/>
                        <a:t> – NA</a:t>
                      </a:r>
                    </a:p>
                    <a:p>
                      <a:r>
                        <a:rPr lang="en-US" baseline="0" dirty="0" smtClean="0"/>
                        <a:t>Bits(7:0) – Command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0x00000000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Send</a:t>
                      </a:r>
                      <a:r>
                        <a:rPr lang="en-US" baseline="0" dirty="0" smtClean="0"/>
                        <a:t>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0x10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Bits</a:t>
                      </a:r>
                      <a:r>
                        <a:rPr lang="en-US" baseline="0" dirty="0" smtClean="0"/>
                        <a:t> </a:t>
                      </a:r>
                      <a:r>
                        <a:rPr lang="he-IL" baseline="0" dirty="0" smtClean="0"/>
                        <a:t>31</a:t>
                      </a:r>
                      <a:r>
                        <a:rPr lang="en-US" baseline="0" dirty="0" smtClean="0"/>
                        <a:t>:1 – NA</a:t>
                      </a:r>
                    </a:p>
                    <a:p>
                      <a:r>
                        <a:rPr lang="en-US" baseline="0" dirty="0" smtClean="0"/>
                        <a:t>Bit 0-  ‘1’ – Send data to Flash memory</a:t>
                      </a:r>
                    </a:p>
                    <a:p>
                      <a:r>
                        <a:rPr lang="en-US" baseline="0" dirty="0" smtClean="0"/>
                        <a:t>‘0’- Idle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0x00000000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86005" y="153909"/>
            <a:ext cx="1893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 smtClean="0"/>
              <a:t>Registers File:</a:t>
            </a:r>
            <a:endParaRPr lang="en-US" sz="2400" u="sng" dirty="0"/>
          </a:p>
        </p:txBody>
      </p:sp>
    </p:spTree>
    <p:extLst>
      <p:ext uri="{BB962C8B-B14F-4D97-AF65-F5344CB8AC3E}">
        <p14:creationId xmlns:p14="http://schemas.microsoft.com/office/powerpoint/2010/main" val="1496787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7" y="136670"/>
            <a:ext cx="1418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Main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3911396" y="796070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2803429" y="743580"/>
            <a:ext cx="1223643" cy="18111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28325" y="733947"/>
            <a:ext cx="1993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Send_data</a:t>
            </a:r>
            <a:r>
              <a:rPr lang="en-US" sz="1200" dirty="0" smtClean="0"/>
              <a:t>(0) = ‘1’ and initialization state machine done = ‘1’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7087732" y="796069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command</a:t>
            </a:r>
          </a:p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Data Register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</p:cNvCxnSpPr>
          <p:nvPr/>
        </p:nvCxnSpPr>
        <p:spPr>
          <a:xfrm>
            <a:off x="4701284" y="1235237"/>
            <a:ext cx="2386449" cy="29234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66972" y="452380"/>
            <a:ext cx="1543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2159895" y="1235237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Send_data</a:t>
            </a:r>
            <a:r>
              <a:rPr lang="en-US" sz="1200" dirty="0" smtClean="0"/>
              <a:t>(0) = ‘0’</a:t>
            </a:r>
            <a:endParaRPr lang="en-US" sz="1200" dirty="0"/>
          </a:p>
        </p:txBody>
      </p:sp>
      <p:sp>
        <p:nvSpPr>
          <p:cNvPr id="17" name="Freeform 16"/>
          <p:cNvSpPr/>
          <p:nvPr/>
        </p:nvSpPr>
        <p:spPr>
          <a:xfrm>
            <a:off x="3440105" y="1144524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8" name="Straight Arrow Connector 17"/>
          <p:cNvCxnSpPr>
            <a:endCxn id="23" idx="1"/>
          </p:cNvCxnSpPr>
          <p:nvPr/>
        </p:nvCxnSpPr>
        <p:spPr>
          <a:xfrm>
            <a:off x="8107172" y="1753872"/>
            <a:ext cx="1822749" cy="473186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756797" y="2063378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status register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78658" y="1854548"/>
            <a:ext cx="1200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Command = 06h</a:t>
            </a:r>
            <a:endParaRPr lang="en-US" sz="1200" dirty="0"/>
          </a:p>
        </p:txBody>
      </p:sp>
      <p:sp>
        <p:nvSpPr>
          <p:cNvPr id="26" name="Oval 25"/>
          <p:cNvSpPr/>
          <p:nvPr/>
        </p:nvSpPr>
        <p:spPr>
          <a:xfrm>
            <a:off x="5387577" y="2332524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Write enabled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stCxn id="8" idx="3"/>
            <a:endCxn id="26" idx="7"/>
          </p:cNvCxnSpPr>
          <p:nvPr/>
        </p:nvCxnSpPr>
        <p:spPr>
          <a:xfrm flipH="1">
            <a:off x="6396616" y="1750064"/>
            <a:ext cx="864240" cy="74614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777214" y="1469444"/>
            <a:ext cx="1200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Command = 05h or 70h</a:t>
            </a:r>
            <a:endParaRPr lang="en-US" sz="1200" dirty="0"/>
          </a:p>
        </p:txBody>
      </p:sp>
      <p:sp>
        <p:nvSpPr>
          <p:cNvPr id="38" name="Oval 37"/>
          <p:cNvSpPr/>
          <p:nvPr/>
        </p:nvSpPr>
        <p:spPr>
          <a:xfrm>
            <a:off x="7429153" y="2701797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Fast Read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40" name="Straight Arrow Connector 39"/>
          <p:cNvCxnSpPr>
            <a:endCxn id="38" idx="0"/>
          </p:cNvCxnSpPr>
          <p:nvPr/>
        </p:nvCxnSpPr>
        <p:spPr>
          <a:xfrm>
            <a:off x="7686304" y="1931109"/>
            <a:ext cx="333931" cy="77068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13326" y="2034539"/>
            <a:ext cx="1200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Command = 0Bh</a:t>
            </a:r>
            <a:endParaRPr lang="en-US" sz="1200" dirty="0"/>
          </a:p>
        </p:txBody>
      </p:sp>
      <p:cxnSp>
        <p:nvCxnSpPr>
          <p:cNvPr id="43" name="Straight Arrow Connector 42"/>
          <p:cNvCxnSpPr>
            <a:stCxn id="26" idx="3"/>
            <a:endCxn id="47" idx="7"/>
          </p:cNvCxnSpPr>
          <p:nvPr/>
        </p:nvCxnSpPr>
        <p:spPr>
          <a:xfrm flipH="1">
            <a:off x="4784746" y="3286519"/>
            <a:ext cx="775955" cy="3273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775707" y="3450199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command</a:t>
            </a:r>
          </a:p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Data Register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110663" y="3091360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Send_data</a:t>
            </a:r>
            <a:r>
              <a:rPr lang="en-US" sz="1200" dirty="0" smtClean="0"/>
              <a:t>(0) = ‘1’</a:t>
            </a:r>
            <a:endParaRPr lang="en-US" sz="1200" dirty="0"/>
          </a:p>
        </p:txBody>
      </p:sp>
      <p:sp>
        <p:nvSpPr>
          <p:cNvPr id="52" name="TextBox 51"/>
          <p:cNvSpPr txBox="1"/>
          <p:nvPr/>
        </p:nvSpPr>
        <p:spPr>
          <a:xfrm rot="19523569">
            <a:off x="4214071" y="1984634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Send_data</a:t>
            </a:r>
            <a:r>
              <a:rPr lang="en-US" sz="1200" dirty="0" smtClean="0"/>
              <a:t>(0) = ‘0’</a:t>
            </a:r>
            <a:endParaRPr lang="en-US" sz="1200" dirty="0"/>
          </a:p>
        </p:txBody>
      </p:sp>
      <p:sp>
        <p:nvSpPr>
          <p:cNvPr id="53" name="Freeform 52"/>
          <p:cNvSpPr/>
          <p:nvPr/>
        </p:nvSpPr>
        <p:spPr>
          <a:xfrm rot="3730501">
            <a:off x="4967704" y="2097593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5" name="Oval 54"/>
          <p:cNvSpPr/>
          <p:nvPr/>
        </p:nvSpPr>
        <p:spPr>
          <a:xfrm>
            <a:off x="1742179" y="4643618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Sector Erase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56" name="Straight Arrow Connector 55"/>
          <p:cNvCxnSpPr>
            <a:endCxn id="55" idx="7"/>
          </p:cNvCxnSpPr>
          <p:nvPr/>
        </p:nvCxnSpPr>
        <p:spPr>
          <a:xfrm flipH="1">
            <a:off x="2751218" y="4209125"/>
            <a:ext cx="1076865" cy="59817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689486" y="4059996"/>
            <a:ext cx="1200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Command = D8h</a:t>
            </a:r>
            <a:endParaRPr lang="en-US" sz="1200" dirty="0"/>
          </a:p>
        </p:txBody>
      </p:sp>
      <p:cxnSp>
        <p:nvCxnSpPr>
          <p:cNvPr id="59" name="Straight Arrow Connector 58"/>
          <p:cNvCxnSpPr>
            <a:endCxn id="62" idx="0"/>
          </p:cNvCxnSpPr>
          <p:nvPr/>
        </p:nvCxnSpPr>
        <p:spPr>
          <a:xfrm>
            <a:off x="4600791" y="4534109"/>
            <a:ext cx="309109" cy="56038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4318818" y="5094492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Write 8 bits command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580596" y="4699025"/>
            <a:ext cx="13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Command = </a:t>
            </a:r>
            <a:r>
              <a:rPr lang="en-US" sz="1200" dirty="0" smtClean="0"/>
              <a:t>81h </a:t>
            </a:r>
            <a:r>
              <a:rPr lang="en-US" sz="1200" dirty="0"/>
              <a:t>or 61h</a:t>
            </a:r>
          </a:p>
        </p:txBody>
      </p:sp>
      <p:sp>
        <p:nvSpPr>
          <p:cNvPr id="68" name="Oval 67"/>
          <p:cNvSpPr/>
          <p:nvPr/>
        </p:nvSpPr>
        <p:spPr>
          <a:xfrm>
            <a:off x="6485581" y="5072039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Write 16 bits command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>
            <a:off x="4882764" y="4288589"/>
            <a:ext cx="1686976" cy="1049465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endCxn id="73" idx="1"/>
          </p:cNvCxnSpPr>
          <p:nvPr/>
        </p:nvCxnSpPr>
        <p:spPr>
          <a:xfrm>
            <a:off x="4953188" y="4031921"/>
            <a:ext cx="3997150" cy="35213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8777214" y="4220379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Write Data to the QSPI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 rot="430485">
            <a:off x="5778702" y="4589550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Command = B1h</a:t>
            </a:r>
          </a:p>
        </p:txBody>
      </p:sp>
      <p:sp>
        <p:nvSpPr>
          <p:cNvPr id="77" name="TextBox 76"/>
          <p:cNvSpPr txBox="1"/>
          <p:nvPr/>
        </p:nvSpPr>
        <p:spPr>
          <a:xfrm rot="283979">
            <a:off x="6193460" y="3859224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Command = </a:t>
            </a:r>
            <a:r>
              <a:rPr lang="en-US" sz="1200" dirty="0" smtClean="0"/>
              <a:t>02h</a:t>
            </a:r>
            <a:endParaRPr lang="en-US" sz="1200" dirty="0"/>
          </a:p>
        </p:txBody>
      </p:sp>
      <p:sp>
        <p:nvSpPr>
          <p:cNvPr id="78" name="Freeform 77"/>
          <p:cNvSpPr/>
          <p:nvPr/>
        </p:nvSpPr>
        <p:spPr>
          <a:xfrm>
            <a:off x="1460694" y="1675373"/>
            <a:ext cx="7883966" cy="5053623"/>
          </a:xfrm>
          <a:custGeom>
            <a:avLst/>
            <a:gdLst>
              <a:gd name="connsiteX0" fmla="*/ 7883966 w 7883966"/>
              <a:gd name="connsiteY0" fmla="*/ 3665220 h 5053623"/>
              <a:gd name="connsiteX1" fmla="*/ 6687626 w 7883966"/>
              <a:gd name="connsiteY1" fmla="*/ 4732020 h 5053623"/>
              <a:gd name="connsiteX2" fmla="*/ 1071686 w 7883966"/>
              <a:gd name="connsiteY2" fmla="*/ 4907280 h 5053623"/>
              <a:gd name="connsiteX3" fmla="*/ 88706 w 7883966"/>
              <a:gd name="connsiteY3" fmla="*/ 2766060 h 5053623"/>
              <a:gd name="connsiteX4" fmla="*/ 2313746 w 7883966"/>
              <a:gd name="connsiteY4" fmla="*/ 822960 h 5053623"/>
              <a:gd name="connsiteX5" fmla="*/ 2885246 w 7883966"/>
              <a:gd name="connsiteY5" fmla="*/ 0 h 505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83966" h="5053623">
                <a:moveTo>
                  <a:pt x="7883966" y="3665220"/>
                </a:moveTo>
                <a:cubicBezTo>
                  <a:pt x="7853486" y="4095115"/>
                  <a:pt x="7823006" y="4525010"/>
                  <a:pt x="6687626" y="4732020"/>
                </a:cubicBezTo>
                <a:cubicBezTo>
                  <a:pt x="5552246" y="4939030"/>
                  <a:pt x="2171506" y="5234940"/>
                  <a:pt x="1071686" y="4907280"/>
                </a:cubicBezTo>
                <a:cubicBezTo>
                  <a:pt x="-28134" y="4579620"/>
                  <a:pt x="-118304" y="3446780"/>
                  <a:pt x="88706" y="2766060"/>
                </a:cubicBezTo>
                <a:cubicBezTo>
                  <a:pt x="295716" y="2085340"/>
                  <a:pt x="1847656" y="1283970"/>
                  <a:pt x="2313746" y="822960"/>
                </a:cubicBezTo>
                <a:cubicBezTo>
                  <a:pt x="2779836" y="361950"/>
                  <a:pt x="2832541" y="180975"/>
                  <a:pt x="2885246" y="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9" name="Freeform 78"/>
          <p:cNvSpPr/>
          <p:nvPr/>
        </p:nvSpPr>
        <p:spPr>
          <a:xfrm>
            <a:off x="6929120" y="6171173"/>
            <a:ext cx="327660" cy="396240"/>
          </a:xfrm>
          <a:custGeom>
            <a:avLst/>
            <a:gdLst>
              <a:gd name="connsiteX0" fmla="*/ 327660 w 327660"/>
              <a:gd name="connsiteY0" fmla="*/ 0 h 396240"/>
              <a:gd name="connsiteX1" fmla="*/ 0 w 327660"/>
              <a:gd name="connsiteY1" fmla="*/ 396240 h 396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7660" h="396240">
                <a:moveTo>
                  <a:pt x="327660" y="0"/>
                </a:moveTo>
                <a:cubicBezTo>
                  <a:pt x="199390" y="164465"/>
                  <a:pt x="71120" y="328930"/>
                  <a:pt x="0" y="39624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0" name="Freeform 79"/>
          <p:cNvSpPr/>
          <p:nvPr/>
        </p:nvSpPr>
        <p:spPr>
          <a:xfrm>
            <a:off x="4361180" y="6194033"/>
            <a:ext cx="518160" cy="510540"/>
          </a:xfrm>
          <a:custGeom>
            <a:avLst/>
            <a:gdLst>
              <a:gd name="connsiteX0" fmla="*/ 518160 w 518160"/>
              <a:gd name="connsiteY0" fmla="*/ 0 h 510540"/>
              <a:gd name="connsiteX1" fmla="*/ 0 w 518160"/>
              <a:gd name="connsiteY1" fmla="*/ 510540 h 51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8160" h="510540">
                <a:moveTo>
                  <a:pt x="518160" y="0"/>
                </a:moveTo>
                <a:lnTo>
                  <a:pt x="0" y="510540"/>
                </a:ln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1" name="Freeform 80"/>
          <p:cNvSpPr/>
          <p:nvPr/>
        </p:nvSpPr>
        <p:spPr>
          <a:xfrm>
            <a:off x="1811241" y="4060433"/>
            <a:ext cx="103919" cy="723900"/>
          </a:xfrm>
          <a:custGeom>
            <a:avLst/>
            <a:gdLst>
              <a:gd name="connsiteX0" fmla="*/ 103919 w 103919"/>
              <a:gd name="connsiteY0" fmla="*/ 723900 h 723900"/>
              <a:gd name="connsiteX1" fmla="*/ 12479 w 103919"/>
              <a:gd name="connsiteY1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919" h="723900">
                <a:moveTo>
                  <a:pt x="103919" y="723900"/>
                </a:moveTo>
                <a:cubicBezTo>
                  <a:pt x="37879" y="449580"/>
                  <a:pt x="-28161" y="175260"/>
                  <a:pt x="12479" y="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2" name="TextBox 81"/>
          <p:cNvSpPr txBox="1"/>
          <p:nvPr/>
        </p:nvSpPr>
        <p:spPr>
          <a:xfrm rot="21379083">
            <a:off x="5842900" y="6253857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writing</a:t>
            </a:r>
            <a:endParaRPr lang="en-US" sz="1200" dirty="0"/>
          </a:p>
        </p:txBody>
      </p:sp>
      <p:sp>
        <p:nvSpPr>
          <p:cNvPr id="83" name="TextBox 82"/>
          <p:cNvSpPr txBox="1"/>
          <p:nvPr/>
        </p:nvSpPr>
        <p:spPr>
          <a:xfrm rot="21379083">
            <a:off x="3237313" y="6332081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writing</a:t>
            </a:r>
            <a:endParaRPr lang="en-US" sz="1200" dirty="0"/>
          </a:p>
        </p:txBody>
      </p:sp>
      <p:sp>
        <p:nvSpPr>
          <p:cNvPr id="84" name="TextBox 83"/>
          <p:cNvSpPr txBox="1"/>
          <p:nvPr/>
        </p:nvSpPr>
        <p:spPr>
          <a:xfrm rot="19323601">
            <a:off x="1516508" y="3344618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writing</a:t>
            </a:r>
            <a:endParaRPr lang="en-US" sz="1200" dirty="0"/>
          </a:p>
        </p:txBody>
      </p:sp>
      <p:sp>
        <p:nvSpPr>
          <p:cNvPr id="85" name="TextBox 84"/>
          <p:cNvSpPr txBox="1"/>
          <p:nvPr/>
        </p:nvSpPr>
        <p:spPr>
          <a:xfrm rot="19323601">
            <a:off x="8510079" y="6072354"/>
            <a:ext cx="1348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writing</a:t>
            </a:r>
            <a:endParaRPr lang="en-US" sz="1200" dirty="0"/>
          </a:p>
        </p:txBody>
      </p:sp>
      <p:sp>
        <p:nvSpPr>
          <p:cNvPr id="86" name="Freeform 85"/>
          <p:cNvSpPr/>
          <p:nvPr/>
        </p:nvSpPr>
        <p:spPr>
          <a:xfrm>
            <a:off x="4582160" y="371628"/>
            <a:ext cx="7352868" cy="3423269"/>
          </a:xfrm>
          <a:custGeom>
            <a:avLst/>
            <a:gdLst>
              <a:gd name="connsiteX0" fmla="*/ 3954780 w 7352868"/>
              <a:gd name="connsiteY0" fmla="*/ 3178265 h 3423269"/>
              <a:gd name="connsiteX1" fmla="*/ 6545580 w 7352868"/>
              <a:gd name="connsiteY1" fmla="*/ 3330665 h 3423269"/>
              <a:gd name="connsiteX2" fmla="*/ 7261860 w 7352868"/>
              <a:gd name="connsiteY2" fmla="*/ 1936205 h 3423269"/>
              <a:gd name="connsiteX3" fmla="*/ 4792980 w 7352868"/>
              <a:gd name="connsiteY3" fmla="*/ 54065 h 3423269"/>
              <a:gd name="connsiteX4" fmla="*/ 0 w 7352868"/>
              <a:gd name="connsiteY4" fmla="*/ 511265 h 34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52868" h="3423269">
                <a:moveTo>
                  <a:pt x="3954780" y="3178265"/>
                </a:moveTo>
                <a:cubicBezTo>
                  <a:pt x="4974590" y="3357970"/>
                  <a:pt x="5994400" y="3537675"/>
                  <a:pt x="6545580" y="3330665"/>
                </a:cubicBezTo>
                <a:cubicBezTo>
                  <a:pt x="7096760" y="3123655"/>
                  <a:pt x="7553960" y="2482305"/>
                  <a:pt x="7261860" y="1936205"/>
                </a:cubicBezTo>
                <a:cubicBezTo>
                  <a:pt x="6969760" y="1390105"/>
                  <a:pt x="6003290" y="291555"/>
                  <a:pt x="4792980" y="54065"/>
                </a:cubicBezTo>
                <a:cubicBezTo>
                  <a:pt x="3582670" y="-183425"/>
                  <a:pt x="787400" y="433795"/>
                  <a:pt x="0" y="511265"/>
                </a:cubicBezTo>
              </a:path>
            </a:pathLst>
          </a:cu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Freeform 86"/>
          <p:cNvSpPr/>
          <p:nvPr/>
        </p:nvSpPr>
        <p:spPr>
          <a:xfrm>
            <a:off x="10944860" y="1462013"/>
            <a:ext cx="296587" cy="1082040"/>
          </a:xfrm>
          <a:custGeom>
            <a:avLst/>
            <a:gdLst>
              <a:gd name="connsiteX0" fmla="*/ 0 w 296587"/>
              <a:gd name="connsiteY0" fmla="*/ 1082040 h 1082040"/>
              <a:gd name="connsiteX1" fmla="*/ 281940 w 296587"/>
              <a:gd name="connsiteY1" fmla="*/ 304800 h 1082040"/>
              <a:gd name="connsiteX2" fmla="*/ 259080 w 296587"/>
              <a:gd name="connsiteY2" fmla="*/ 0 h 108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6587" h="1082040">
                <a:moveTo>
                  <a:pt x="0" y="1082040"/>
                </a:moveTo>
                <a:cubicBezTo>
                  <a:pt x="119380" y="783590"/>
                  <a:pt x="238760" y="485140"/>
                  <a:pt x="281940" y="304800"/>
                </a:cubicBezTo>
                <a:cubicBezTo>
                  <a:pt x="325120" y="124460"/>
                  <a:pt x="259080" y="0"/>
                  <a:pt x="259080" y="0"/>
                </a:cubicBezTo>
              </a:path>
            </a:pathLst>
          </a:cu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549913" y="3429042"/>
            <a:ext cx="1200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reading</a:t>
            </a:r>
            <a:endParaRPr lang="en-US" sz="1200" dirty="0"/>
          </a:p>
        </p:txBody>
      </p:sp>
      <p:sp>
        <p:nvSpPr>
          <p:cNvPr id="89" name="TextBox 88"/>
          <p:cNvSpPr txBox="1"/>
          <p:nvPr/>
        </p:nvSpPr>
        <p:spPr>
          <a:xfrm>
            <a:off x="10175303" y="1397405"/>
            <a:ext cx="12003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reading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4699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7" y="136670"/>
            <a:ext cx="1418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Initialization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123236" y="1726737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16169" y="1829735"/>
            <a:ext cx="989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5176121" y="1439232"/>
            <a:ext cx="1497467" cy="1402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Send command 06h(enable write) on single SPI</a:t>
            </a:r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 flipV="1">
            <a:off x="2913124" y="2140272"/>
            <a:ext cx="2262997" cy="2563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2640" y="2140272"/>
            <a:ext cx="9172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‘0’</a:t>
            </a:r>
            <a:endParaRPr lang="en-US" sz="1200" dirty="0"/>
          </a:p>
        </p:txBody>
      </p:sp>
      <p:sp>
        <p:nvSpPr>
          <p:cNvPr id="17" name="Freeform 16"/>
          <p:cNvSpPr/>
          <p:nvPr/>
        </p:nvSpPr>
        <p:spPr>
          <a:xfrm>
            <a:off x="1651945" y="2075191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0" name="Oval 49"/>
          <p:cNvSpPr/>
          <p:nvPr/>
        </p:nvSpPr>
        <p:spPr>
          <a:xfrm>
            <a:off x="8669857" y="1440644"/>
            <a:ext cx="1497467" cy="1402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Send command B1h(write non vol.reg) on single SPI</a:t>
            </a:r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stCxn id="8" idx="6"/>
            <a:endCxn id="50" idx="2"/>
          </p:cNvCxnSpPr>
          <p:nvPr/>
        </p:nvCxnSpPr>
        <p:spPr>
          <a:xfrm>
            <a:off x="6673588" y="2140272"/>
            <a:ext cx="1996269" cy="141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185084" y="1696805"/>
            <a:ext cx="13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sending command= ‘1’</a:t>
            </a:r>
            <a:endParaRPr lang="en-US" sz="1200" dirty="0"/>
          </a:p>
        </p:txBody>
      </p:sp>
      <p:sp>
        <p:nvSpPr>
          <p:cNvPr id="57" name="TextBox 56"/>
          <p:cNvSpPr txBox="1"/>
          <p:nvPr/>
        </p:nvSpPr>
        <p:spPr>
          <a:xfrm>
            <a:off x="9418591" y="3133988"/>
            <a:ext cx="13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sending command= ‘1’</a:t>
            </a:r>
            <a:endParaRPr lang="en-US" sz="1200" dirty="0"/>
          </a:p>
        </p:txBody>
      </p:sp>
      <p:sp>
        <p:nvSpPr>
          <p:cNvPr id="60" name="Oval 59"/>
          <p:cNvSpPr/>
          <p:nvPr/>
        </p:nvSpPr>
        <p:spPr>
          <a:xfrm>
            <a:off x="8669858" y="3872682"/>
            <a:ext cx="1497467" cy="1402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Send </a:t>
            </a:r>
            <a:r>
              <a:rPr lang="he-IL" sz="14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16 </a:t>
            </a:r>
            <a:r>
              <a:rPr lang="en-US" sz="14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 Bit Data F7AFh on </a:t>
            </a:r>
            <a:r>
              <a:rPr lang="en-US" sz="14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single SPI</a:t>
            </a:r>
          </a:p>
        </p:txBody>
      </p:sp>
      <p:cxnSp>
        <p:nvCxnSpPr>
          <p:cNvPr id="65" name="Straight Arrow Connector 64"/>
          <p:cNvCxnSpPr>
            <a:stCxn id="50" idx="4"/>
            <a:endCxn id="60" idx="0"/>
          </p:cNvCxnSpPr>
          <p:nvPr/>
        </p:nvCxnSpPr>
        <p:spPr>
          <a:xfrm>
            <a:off x="9418591" y="2842724"/>
            <a:ext cx="1" cy="102995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0" idx="2"/>
          </p:cNvCxnSpPr>
          <p:nvPr/>
        </p:nvCxnSpPr>
        <p:spPr>
          <a:xfrm flipH="1">
            <a:off x="6448724" y="4573722"/>
            <a:ext cx="2221134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694939" y="4084703"/>
            <a:ext cx="1838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sending data = ‘1’</a:t>
            </a:r>
            <a:endParaRPr lang="en-US" sz="1200" dirty="0"/>
          </a:p>
        </p:txBody>
      </p:sp>
      <p:sp>
        <p:nvSpPr>
          <p:cNvPr id="90" name="Arc 89"/>
          <p:cNvSpPr/>
          <p:nvPr/>
        </p:nvSpPr>
        <p:spPr>
          <a:xfrm>
            <a:off x="5487500" y="1009727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/>
          <p:cNvSpPr txBox="1"/>
          <p:nvPr/>
        </p:nvSpPr>
        <p:spPr>
          <a:xfrm>
            <a:off x="5609493" y="661053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92" name="Arc 91"/>
          <p:cNvSpPr/>
          <p:nvPr/>
        </p:nvSpPr>
        <p:spPr>
          <a:xfrm>
            <a:off x="8936585" y="97868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/>
          <p:cNvSpPr txBox="1"/>
          <p:nvPr/>
        </p:nvSpPr>
        <p:spPr>
          <a:xfrm>
            <a:off x="9058578" y="630006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94" name="Arc 93"/>
          <p:cNvSpPr/>
          <p:nvPr/>
        </p:nvSpPr>
        <p:spPr>
          <a:xfrm rot="5236067">
            <a:off x="9735238" y="4170641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/>
          <p:cNvSpPr txBox="1"/>
          <p:nvPr/>
        </p:nvSpPr>
        <p:spPr>
          <a:xfrm>
            <a:off x="10642880" y="4311240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96" name="Oval 95"/>
          <p:cNvSpPr/>
          <p:nvPr/>
        </p:nvSpPr>
        <p:spPr>
          <a:xfrm>
            <a:off x="4936728" y="3872682"/>
            <a:ext cx="1497467" cy="1402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Done</a:t>
            </a:r>
            <a:endParaRPr lang="en-US" sz="14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97" name="Arc 96"/>
          <p:cNvSpPr/>
          <p:nvPr/>
        </p:nvSpPr>
        <p:spPr>
          <a:xfrm rot="15695209">
            <a:off x="4475087" y="4186595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/>
          <p:cNvSpPr txBox="1"/>
          <p:nvPr/>
        </p:nvSpPr>
        <p:spPr>
          <a:xfrm>
            <a:off x="3337811" y="3752935"/>
            <a:ext cx="1838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sending data = ‘1’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1067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7" y="136670"/>
            <a:ext cx="1418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Read status register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598216" y="1841037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2064062" y="1610203"/>
            <a:ext cx="649830" cy="35946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10364" y="1802873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Main state machine = Read Status register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5943642" y="1808860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command 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>
            <a:off x="3388104" y="2280204"/>
            <a:ext cx="2555538" cy="8749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64062" y="1362132"/>
            <a:ext cx="999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846715" y="2280204"/>
            <a:ext cx="134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!= </a:t>
            </a:r>
            <a:r>
              <a:rPr lang="en-US" sz="1200" dirty="0"/>
              <a:t>Read Status </a:t>
            </a:r>
            <a:r>
              <a:rPr lang="en-US" sz="1200" dirty="0" smtClean="0"/>
              <a:t>register</a:t>
            </a:r>
            <a:endParaRPr lang="en-US" sz="1200" dirty="0"/>
          </a:p>
        </p:txBody>
      </p:sp>
      <p:sp>
        <p:nvSpPr>
          <p:cNvPr id="17" name="Freeform 16"/>
          <p:cNvSpPr/>
          <p:nvPr/>
        </p:nvSpPr>
        <p:spPr>
          <a:xfrm>
            <a:off x="2126925" y="2189491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0" name="Straight Arrow Connector 49"/>
          <p:cNvCxnSpPr>
            <a:stCxn id="8" idx="6"/>
            <a:endCxn id="51" idx="2"/>
          </p:cNvCxnSpPr>
          <p:nvPr/>
        </p:nvCxnSpPr>
        <p:spPr>
          <a:xfrm>
            <a:off x="7125805" y="2367698"/>
            <a:ext cx="229872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424533" y="1808860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Read data 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125805" y="1771640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Send Quad command process done = ‘1’</a:t>
            </a:r>
            <a:endParaRPr lang="en-US" sz="1200" dirty="0"/>
          </a:p>
        </p:txBody>
      </p:sp>
      <p:sp>
        <p:nvSpPr>
          <p:cNvPr id="60" name="Oval 59"/>
          <p:cNvSpPr/>
          <p:nvPr/>
        </p:nvSpPr>
        <p:spPr>
          <a:xfrm>
            <a:off x="5943641" y="3957700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Write the Data to the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Data Read </a:t>
            </a:r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Register</a:t>
            </a:r>
          </a:p>
        </p:txBody>
      </p:sp>
      <p:cxnSp>
        <p:nvCxnSpPr>
          <p:cNvPr id="61" name="Straight Arrow Connector 60"/>
          <p:cNvCxnSpPr>
            <a:stCxn id="51" idx="3"/>
            <a:endCxn id="60" idx="6"/>
          </p:cNvCxnSpPr>
          <p:nvPr/>
        </p:nvCxnSpPr>
        <p:spPr>
          <a:xfrm flipH="1">
            <a:off x="7125804" y="2762855"/>
            <a:ext cx="2471853" cy="175368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 rot="20043548">
            <a:off x="6988645" y="3334086"/>
            <a:ext cx="2335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Read data process done = ‘1’</a:t>
            </a:r>
            <a:endParaRPr lang="en-US" sz="1200" dirty="0"/>
          </a:p>
        </p:txBody>
      </p:sp>
      <p:cxnSp>
        <p:nvCxnSpPr>
          <p:cNvPr id="67" name="Straight Arrow Connector 66"/>
          <p:cNvCxnSpPr>
            <a:endCxn id="2" idx="5"/>
          </p:cNvCxnSpPr>
          <p:nvPr/>
        </p:nvCxnSpPr>
        <p:spPr>
          <a:xfrm flipH="1" flipV="1">
            <a:off x="3272428" y="2590742"/>
            <a:ext cx="2671213" cy="1824775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c 29"/>
          <p:cNvSpPr/>
          <p:nvPr/>
        </p:nvSpPr>
        <p:spPr>
          <a:xfrm>
            <a:off x="6085634" y="1364952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6207627" y="1016278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76" name="Arc 75"/>
          <p:cNvSpPr/>
          <p:nvPr/>
        </p:nvSpPr>
        <p:spPr>
          <a:xfrm>
            <a:off x="9559350" y="1391168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9681343" y="1042494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91" name="TextBox 90"/>
          <p:cNvSpPr txBox="1"/>
          <p:nvPr/>
        </p:nvSpPr>
        <p:spPr>
          <a:xfrm>
            <a:off x="295316" y="5075375"/>
            <a:ext cx="2977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Notes:</a:t>
            </a:r>
            <a:r>
              <a:rPr lang="en-US" sz="1600" dirty="0" smtClean="0"/>
              <a:t> No dummy cycles when reading status registers</a:t>
            </a:r>
            <a:endParaRPr lang="en-US" sz="1600" u="sng" dirty="0"/>
          </a:p>
        </p:txBody>
      </p:sp>
    </p:spTree>
    <p:extLst>
      <p:ext uri="{BB962C8B-B14F-4D97-AF65-F5344CB8AC3E}">
        <p14:creationId xmlns:p14="http://schemas.microsoft.com/office/powerpoint/2010/main" val="386383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7" y="136670"/>
            <a:ext cx="1418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Fast Read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529636" y="1288773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1995482" y="1057939"/>
            <a:ext cx="649830" cy="35946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41784" y="1250609"/>
            <a:ext cx="2335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Main state machine = </a:t>
            </a:r>
            <a:r>
              <a:rPr lang="en-US" sz="1200" dirty="0"/>
              <a:t>Fast Read</a:t>
            </a:r>
          </a:p>
        </p:txBody>
      </p:sp>
      <p:sp>
        <p:nvSpPr>
          <p:cNvPr id="8" name="Oval 7"/>
          <p:cNvSpPr/>
          <p:nvPr/>
        </p:nvSpPr>
        <p:spPr>
          <a:xfrm>
            <a:off x="5875062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Address data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Register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>
            <a:off x="3319524" y="1727940"/>
            <a:ext cx="2555538" cy="8749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95482" y="809868"/>
            <a:ext cx="89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778135" y="1727940"/>
            <a:ext cx="134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!= Fast Read</a:t>
            </a:r>
            <a:endParaRPr lang="en-US" sz="1200" dirty="0"/>
          </a:p>
        </p:txBody>
      </p:sp>
      <p:sp>
        <p:nvSpPr>
          <p:cNvPr id="17" name="Freeform 16"/>
          <p:cNvSpPr/>
          <p:nvPr/>
        </p:nvSpPr>
        <p:spPr>
          <a:xfrm>
            <a:off x="2058345" y="1637227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0" name="Straight Arrow Connector 49"/>
          <p:cNvCxnSpPr>
            <a:stCxn id="8" idx="6"/>
            <a:endCxn id="51" idx="2"/>
          </p:cNvCxnSpPr>
          <p:nvPr/>
        </p:nvCxnSpPr>
        <p:spPr>
          <a:xfrm>
            <a:off x="7057225" y="1815434"/>
            <a:ext cx="229872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355953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command process</a:t>
            </a:r>
          </a:p>
        </p:txBody>
      </p:sp>
      <p:sp>
        <p:nvSpPr>
          <p:cNvPr id="60" name="Oval 59"/>
          <p:cNvSpPr/>
          <p:nvPr/>
        </p:nvSpPr>
        <p:spPr>
          <a:xfrm>
            <a:off x="9205001" y="5381593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Address</a:t>
            </a:r>
          </a:p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</a:p>
        </p:txBody>
      </p:sp>
      <p:cxnSp>
        <p:nvCxnSpPr>
          <p:cNvPr id="61" name="Straight Arrow Connector 60"/>
          <p:cNvCxnSpPr>
            <a:stCxn id="51" idx="4"/>
            <a:endCxn id="60" idx="0"/>
          </p:cNvCxnSpPr>
          <p:nvPr/>
        </p:nvCxnSpPr>
        <p:spPr>
          <a:xfrm flipH="1">
            <a:off x="9796083" y="2374271"/>
            <a:ext cx="150952" cy="300732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 rot="172942">
            <a:off x="7448123" y="5304833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Send Quad </a:t>
            </a:r>
            <a:r>
              <a:rPr lang="en-US" sz="1200" dirty="0" smtClean="0"/>
              <a:t>Address </a:t>
            </a:r>
          </a:p>
          <a:p>
            <a:r>
              <a:rPr lang="en-US" sz="1200" dirty="0" smtClean="0"/>
              <a:t>process </a:t>
            </a:r>
            <a:r>
              <a:rPr lang="en-US" sz="1200" dirty="0"/>
              <a:t>done = ‘1’</a:t>
            </a:r>
          </a:p>
        </p:txBody>
      </p:sp>
      <p:cxnSp>
        <p:nvCxnSpPr>
          <p:cNvPr id="67" name="Straight Arrow Connector 66"/>
          <p:cNvCxnSpPr>
            <a:stCxn id="60" idx="2"/>
          </p:cNvCxnSpPr>
          <p:nvPr/>
        </p:nvCxnSpPr>
        <p:spPr>
          <a:xfrm flipH="1" flipV="1">
            <a:off x="6603488" y="5782212"/>
            <a:ext cx="2601513" cy="15821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421325" y="524754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Wait 10 dummy cycles</a:t>
            </a:r>
          </a:p>
        </p:txBody>
      </p:sp>
      <p:sp>
        <p:nvSpPr>
          <p:cNvPr id="27" name="TextBox 26"/>
          <p:cNvSpPr txBox="1"/>
          <p:nvPr/>
        </p:nvSpPr>
        <p:spPr>
          <a:xfrm rot="172942">
            <a:off x="1207592" y="4495092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Read data process done = ‘1’</a:t>
            </a:r>
          </a:p>
        </p:txBody>
      </p:sp>
      <p:sp>
        <p:nvSpPr>
          <p:cNvPr id="28" name="Oval 27"/>
          <p:cNvSpPr/>
          <p:nvPr/>
        </p:nvSpPr>
        <p:spPr>
          <a:xfrm>
            <a:off x="2359621" y="2870440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Write the Data to the Read Register</a:t>
            </a:r>
          </a:p>
        </p:txBody>
      </p:sp>
      <p:cxnSp>
        <p:nvCxnSpPr>
          <p:cNvPr id="29" name="Straight Arrow Connector 28"/>
          <p:cNvCxnSpPr>
            <a:stCxn id="25" idx="2"/>
            <a:endCxn id="49" idx="6"/>
          </p:cNvCxnSpPr>
          <p:nvPr/>
        </p:nvCxnSpPr>
        <p:spPr>
          <a:xfrm flipH="1">
            <a:off x="3407245" y="5806384"/>
            <a:ext cx="201408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8" idx="0"/>
            <a:endCxn id="2" idx="4"/>
          </p:cNvCxnSpPr>
          <p:nvPr/>
        </p:nvCxnSpPr>
        <p:spPr>
          <a:xfrm flipH="1" flipV="1">
            <a:off x="2924580" y="2167107"/>
            <a:ext cx="26123" cy="70333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21142" y="5335957"/>
            <a:ext cx="19007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Dummy cycles done = ‘1’</a:t>
            </a:r>
            <a:endParaRPr lang="en-US" sz="1200" dirty="0"/>
          </a:p>
        </p:txBody>
      </p:sp>
      <p:sp>
        <p:nvSpPr>
          <p:cNvPr id="35" name="Arc 34"/>
          <p:cNvSpPr/>
          <p:nvPr/>
        </p:nvSpPr>
        <p:spPr>
          <a:xfrm rot="3662883">
            <a:off x="9873685" y="5318048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10273525" y="4970272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37" name="Arc 36"/>
          <p:cNvSpPr/>
          <p:nvPr/>
        </p:nvSpPr>
        <p:spPr>
          <a:xfrm>
            <a:off x="9493954" y="841825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9737940" y="510095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39" name="Arc 38"/>
          <p:cNvSpPr/>
          <p:nvPr/>
        </p:nvSpPr>
        <p:spPr>
          <a:xfrm>
            <a:off x="6045157" y="83301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265028" y="561228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1" name="Arc 40"/>
          <p:cNvSpPr/>
          <p:nvPr/>
        </p:nvSpPr>
        <p:spPr>
          <a:xfrm>
            <a:off x="5547614" y="4800441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5791600" y="4468711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3" name="Arc 42"/>
          <p:cNvSpPr/>
          <p:nvPr/>
        </p:nvSpPr>
        <p:spPr>
          <a:xfrm>
            <a:off x="6026458" y="83258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2225082" y="524754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data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</a:p>
        </p:txBody>
      </p:sp>
      <p:cxnSp>
        <p:nvCxnSpPr>
          <p:cNvPr id="54" name="Straight Arrow Connector 53"/>
          <p:cNvCxnSpPr>
            <a:endCxn id="28" idx="4"/>
          </p:cNvCxnSpPr>
          <p:nvPr/>
        </p:nvCxnSpPr>
        <p:spPr>
          <a:xfrm flipV="1">
            <a:off x="2829225" y="3988115"/>
            <a:ext cx="121478" cy="125915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871559" y="3512777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Send Quad command process done = ‘1’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7057225" y="1371776"/>
            <a:ext cx="2335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reading Registers file = ‘1’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23679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6" y="136670"/>
            <a:ext cx="2165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Write Data to the QSPI</a:t>
            </a:r>
          </a:p>
          <a:p>
            <a:r>
              <a:rPr lang="en-US" sz="1600" u="sng" dirty="0" smtClean="0"/>
              <a:t>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529636" y="1288773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1995482" y="1057939"/>
            <a:ext cx="649830" cy="35946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41784" y="1250609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= Write data to QSPI</a:t>
            </a:r>
          </a:p>
        </p:txBody>
      </p:sp>
      <p:sp>
        <p:nvSpPr>
          <p:cNvPr id="8" name="Oval 7"/>
          <p:cNvSpPr/>
          <p:nvPr/>
        </p:nvSpPr>
        <p:spPr>
          <a:xfrm>
            <a:off x="5875062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Address data and Data Write Registers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>
            <a:off x="3319524" y="1727940"/>
            <a:ext cx="2555538" cy="8749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95482" y="809868"/>
            <a:ext cx="89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778135" y="1727940"/>
            <a:ext cx="134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!= </a:t>
            </a:r>
            <a:r>
              <a:rPr lang="en-US" sz="1200" dirty="0"/>
              <a:t>Write data to QSPI</a:t>
            </a:r>
          </a:p>
        </p:txBody>
      </p:sp>
      <p:sp>
        <p:nvSpPr>
          <p:cNvPr id="17" name="Freeform 16"/>
          <p:cNvSpPr/>
          <p:nvPr/>
        </p:nvSpPr>
        <p:spPr>
          <a:xfrm>
            <a:off x="2058345" y="1637227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0" name="Straight Arrow Connector 49"/>
          <p:cNvCxnSpPr>
            <a:stCxn id="8" idx="6"/>
            <a:endCxn id="51" idx="2"/>
          </p:cNvCxnSpPr>
          <p:nvPr/>
        </p:nvCxnSpPr>
        <p:spPr>
          <a:xfrm>
            <a:off x="7057225" y="1815434"/>
            <a:ext cx="229872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355953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command process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57225" y="1371776"/>
            <a:ext cx="2335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reading Registers file = ‘1’</a:t>
            </a:r>
            <a:endParaRPr lang="en-US" sz="1200" dirty="0"/>
          </a:p>
        </p:txBody>
      </p:sp>
      <p:cxnSp>
        <p:nvCxnSpPr>
          <p:cNvPr id="61" name="Straight Arrow Connector 60"/>
          <p:cNvCxnSpPr>
            <a:endCxn id="25" idx="6"/>
          </p:cNvCxnSpPr>
          <p:nvPr/>
        </p:nvCxnSpPr>
        <p:spPr>
          <a:xfrm flipH="1">
            <a:off x="6743701" y="5381591"/>
            <a:ext cx="2240655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120240" y="4733542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Send Quad </a:t>
            </a:r>
            <a:r>
              <a:rPr lang="en-US" sz="1200" dirty="0" smtClean="0"/>
              <a:t>Address </a:t>
            </a:r>
          </a:p>
          <a:p>
            <a:r>
              <a:rPr lang="en-US" sz="1200" dirty="0" smtClean="0"/>
              <a:t>process </a:t>
            </a:r>
            <a:r>
              <a:rPr lang="en-US" sz="1200" dirty="0"/>
              <a:t>done = ‘1’</a:t>
            </a:r>
          </a:p>
        </p:txBody>
      </p:sp>
      <p:sp>
        <p:nvSpPr>
          <p:cNvPr id="25" name="Oval 24"/>
          <p:cNvSpPr/>
          <p:nvPr/>
        </p:nvSpPr>
        <p:spPr>
          <a:xfrm>
            <a:off x="5561538" y="4822754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Data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27" name="TextBox 26"/>
          <p:cNvSpPr txBox="1"/>
          <p:nvPr/>
        </p:nvSpPr>
        <p:spPr>
          <a:xfrm rot="172942">
            <a:off x="3086128" y="3439935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Send Quad </a:t>
            </a:r>
            <a:r>
              <a:rPr lang="en-US" sz="1200" dirty="0" smtClean="0"/>
              <a:t>Data</a:t>
            </a:r>
            <a:endParaRPr lang="en-US" sz="1200" dirty="0"/>
          </a:p>
          <a:p>
            <a:r>
              <a:rPr lang="en-US" sz="1200" dirty="0"/>
              <a:t>process done = ‘1’</a:t>
            </a:r>
          </a:p>
        </p:txBody>
      </p:sp>
      <p:cxnSp>
        <p:nvCxnSpPr>
          <p:cNvPr id="29" name="Straight Arrow Connector 28"/>
          <p:cNvCxnSpPr>
            <a:stCxn id="25" idx="2"/>
            <a:endCxn id="2" idx="5"/>
          </p:cNvCxnSpPr>
          <p:nvPr/>
        </p:nvCxnSpPr>
        <p:spPr>
          <a:xfrm flipH="1" flipV="1">
            <a:off x="3203848" y="2038478"/>
            <a:ext cx="2357690" cy="334311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rc 36"/>
          <p:cNvSpPr/>
          <p:nvPr/>
        </p:nvSpPr>
        <p:spPr>
          <a:xfrm>
            <a:off x="9493954" y="841825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9737940" y="510095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39" name="Arc 38"/>
          <p:cNvSpPr/>
          <p:nvPr/>
        </p:nvSpPr>
        <p:spPr>
          <a:xfrm>
            <a:off x="6045157" y="83301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265028" y="561228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1" name="Arc 40"/>
          <p:cNvSpPr/>
          <p:nvPr/>
        </p:nvSpPr>
        <p:spPr>
          <a:xfrm>
            <a:off x="5689854" y="4394041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5933840" y="4062311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3" name="Arc 42"/>
          <p:cNvSpPr/>
          <p:nvPr/>
        </p:nvSpPr>
        <p:spPr>
          <a:xfrm>
            <a:off x="6026458" y="83258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8984356" y="4822754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Address</a:t>
            </a:r>
          </a:p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endCxn id="44" idx="0"/>
          </p:cNvCxnSpPr>
          <p:nvPr/>
        </p:nvCxnSpPr>
        <p:spPr>
          <a:xfrm flipH="1">
            <a:off x="9575438" y="2401545"/>
            <a:ext cx="317834" cy="242120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734355" y="3294176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Send Quad command process done = ‘1’</a:t>
            </a:r>
            <a:endParaRPr lang="en-US" sz="1200" dirty="0"/>
          </a:p>
        </p:txBody>
      </p:sp>
      <p:sp>
        <p:nvSpPr>
          <p:cNvPr id="47" name="Arc 46"/>
          <p:cNvSpPr/>
          <p:nvPr/>
        </p:nvSpPr>
        <p:spPr>
          <a:xfrm rot="4472728">
            <a:off x="9653798" y="4890457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 rot="1150426">
            <a:off x="10096559" y="4595043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9857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7" y="136670"/>
            <a:ext cx="1418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Sector Erase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529636" y="1288773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1995482" y="1057939"/>
            <a:ext cx="649830" cy="35946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41784" y="1250609"/>
            <a:ext cx="2335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= Sector erase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5875062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 Address data Registers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>
            <a:off x="3319524" y="1727940"/>
            <a:ext cx="2555538" cy="8749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95482" y="809868"/>
            <a:ext cx="89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778135" y="1727940"/>
            <a:ext cx="134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!= </a:t>
            </a:r>
            <a:r>
              <a:rPr lang="en-US" sz="1200" dirty="0"/>
              <a:t>Sector erase</a:t>
            </a:r>
          </a:p>
        </p:txBody>
      </p:sp>
      <p:sp>
        <p:nvSpPr>
          <p:cNvPr id="17" name="Freeform 16"/>
          <p:cNvSpPr/>
          <p:nvPr/>
        </p:nvSpPr>
        <p:spPr>
          <a:xfrm>
            <a:off x="2058345" y="1637227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0" name="Straight Arrow Connector 49"/>
          <p:cNvCxnSpPr>
            <a:stCxn id="8" idx="6"/>
            <a:endCxn id="51" idx="2"/>
          </p:cNvCxnSpPr>
          <p:nvPr/>
        </p:nvCxnSpPr>
        <p:spPr>
          <a:xfrm>
            <a:off x="7057225" y="1815434"/>
            <a:ext cx="2298728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355953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command process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57225" y="1371776"/>
            <a:ext cx="2335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Done reading Registers file = ‘1’</a:t>
            </a:r>
            <a:endParaRPr lang="en-US" sz="1200" dirty="0"/>
          </a:p>
        </p:txBody>
      </p:sp>
      <p:cxnSp>
        <p:nvCxnSpPr>
          <p:cNvPr id="61" name="Straight Arrow Connector 60"/>
          <p:cNvCxnSpPr>
            <a:endCxn id="2" idx="5"/>
          </p:cNvCxnSpPr>
          <p:nvPr/>
        </p:nvCxnSpPr>
        <p:spPr>
          <a:xfrm flipH="1" flipV="1">
            <a:off x="3203848" y="2038478"/>
            <a:ext cx="5780509" cy="334311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667155" y="4250539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Send Quad </a:t>
            </a:r>
            <a:r>
              <a:rPr lang="en-US" sz="1200" dirty="0" smtClean="0"/>
              <a:t>Address </a:t>
            </a:r>
          </a:p>
          <a:p>
            <a:r>
              <a:rPr lang="en-US" sz="1200" dirty="0" smtClean="0"/>
              <a:t>process </a:t>
            </a:r>
            <a:r>
              <a:rPr lang="en-US" sz="1200" dirty="0"/>
              <a:t>done = ‘1’</a:t>
            </a:r>
          </a:p>
        </p:txBody>
      </p:sp>
      <p:sp>
        <p:nvSpPr>
          <p:cNvPr id="37" name="Arc 36"/>
          <p:cNvSpPr/>
          <p:nvPr/>
        </p:nvSpPr>
        <p:spPr>
          <a:xfrm>
            <a:off x="9493954" y="841825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9737940" y="510095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39" name="Arc 38"/>
          <p:cNvSpPr/>
          <p:nvPr/>
        </p:nvSpPr>
        <p:spPr>
          <a:xfrm>
            <a:off x="6045157" y="83301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265028" y="561228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3" name="Arc 42"/>
          <p:cNvSpPr/>
          <p:nvPr/>
        </p:nvSpPr>
        <p:spPr>
          <a:xfrm>
            <a:off x="6026458" y="83258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8984356" y="4822754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Address</a:t>
            </a:r>
          </a:p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endCxn id="44" idx="0"/>
          </p:cNvCxnSpPr>
          <p:nvPr/>
        </p:nvCxnSpPr>
        <p:spPr>
          <a:xfrm flipH="1">
            <a:off x="9575438" y="2401545"/>
            <a:ext cx="317834" cy="242120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734355" y="3294176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Send Quad command process done = ‘1’</a:t>
            </a:r>
            <a:endParaRPr lang="en-US" sz="1200" dirty="0"/>
          </a:p>
        </p:txBody>
      </p:sp>
      <p:sp>
        <p:nvSpPr>
          <p:cNvPr id="47" name="Arc 46"/>
          <p:cNvSpPr/>
          <p:nvPr/>
        </p:nvSpPr>
        <p:spPr>
          <a:xfrm rot="4472728">
            <a:off x="9653798" y="4890457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 rot="1150426">
            <a:off x="10096559" y="4595043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49617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6" y="136670"/>
            <a:ext cx="2013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Write 8 bits </a:t>
            </a:r>
            <a:r>
              <a:rPr lang="en-US" sz="1600" u="sng" dirty="0" smtClean="0"/>
              <a:t>command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529636" y="1288773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1995482" y="1057939"/>
            <a:ext cx="649830" cy="35946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41784" y="1250609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= Write </a:t>
            </a:r>
            <a:r>
              <a:rPr lang="en-US" sz="1200" dirty="0" smtClean="0"/>
              <a:t>8 bits command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5875062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command 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>
            <a:off x="3319524" y="1727940"/>
            <a:ext cx="2555538" cy="8749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95482" y="809868"/>
            <a:ext cx="89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778135" y="1727940"/>
            <a:ext cx="134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!= </a:t>
            </a:r>
            <a:r>
              <a:rPr lang="en-US" sz="1200" dirty="0"/>
              <a:t>Write 8 bits command</a:t>
            </a:r>
          </a:p>
        </p:txBody>
      </p:sp>
      <p:sp>
        <p:nvSpPr>
          <p:cNvPr id="17" name="Freeform 16"/>
          <p:cNvSpPr/>
          <p:nvPr/>
        </p:nvSpPr>
        <p:spPr>
          <a:xfrm>
            <a:off x="2058345" y="1637227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6592807" y="2366483"/>
            <a:ext cx="413574" cy="133270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799594" y="2610882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Send Quad command process done = ‘1’</a:t>
            </a:r>
            <a:endParaRPr lang="en-US" sz="1200" dirty="0"/>
          </a:p>
        </p:txBody>
      </p:sp>
      <p:sp>
        <p:nvSpPr>
          <p:cNvPr id="39" name="Arc 38"/>
          <p:cNvSpPr/>
          <p:nvPr/>
        </p:nvSpPr>
        <p:spPr>
          <a:xfrm>
            <a:off x="6045157" y="83301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265028" y="561228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3" name="Arc 42"/>
          <p:cNvSpPr/>
          <p:nvPr/>
        </p:nvSpPr>
        <p:spPr>
          <a:xfrm>
            <a:off x="6026458" y="83258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466143" y="3699192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Data</a:t>
            </a:r>
          </a:p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31" name="Arc 30"/>
          <p:cNvSpPr/>
          <p:nvPr/>
        </p:nvSpPr>
        <p:spPr>
          <a:xfrm rot="4472728">
            <a:off x="7135585" y="3766895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 rot="1150426">
            <a:off x="7578346" y="3471481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cxnSp>
        <p:nvCxnSpPr>
          <p:cNvPr id="33" name="Straight Arrow Connector 32"/>
          <p:cNvCxnSpPr>
            <a:stCxn id="30" idx="2"/>
            <a:endCxn id="2" idx="5"/>
          </p:cNvCxnSpPr>
          <p:nvPr/>
        </p:nvCxnSpPr>
        <p:spPr>
          <a:xfrm flipH="1" flipV="1">
            <a:off x="3203848" y="2038478"/>
            <a:ext cx="3262295" cy="221955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774802" y="3279915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Send Quad </a:t>
            </a:r>
            <a:r>
              <a:rPr lang="en-US" sz="1200" dirty="0" smtClean="0"/>
              <a:t>Data</a:t>
            </a:r>
            <a:endParaRPr lang="en-US" sz="1200" dirty="0"/>
          </a:p>
          <a:p>
            <a:r>
              <a:rPr lang="en-US" sz="1200" dirty="0"/>
              <a:t>process done = ‘1’</a:t>
            </a:r>
          </a:p>
        </p:txBody>
      </p:sp>
    </p:spTree>
    <p:extLst>
      <p:ext uri="{BB962C8B-B14F-4D97-AF65-F5344CB8AC3E}">
        <p14:creationId xmlns:p14="http://schemas.microsoft.com/office/powerpoint/2010/main" val="3432247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316" y="136670"/>
            <a:ext cx="2349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/>
              <a:t>Write </a:t>
            </a:r>
            <a:r>
              <a:rPr lang="en-US" sz="1600" u="sng" dirty="0" smtClean="0"/>
              <a:t>16 </a:t>
            </a:r>
            <a:r>
              <a:rPr lang="en-US" sz="1600" u="sng" dirty="0"/>
              <a:t>bits </a:t>
            </a:r>
            <a:r>
              <a:rPr lang="en-US" sz="1600" u="sng" dirty="0" smtClean="0"/>
              <a:t>command state machine:</a:t>
            </a:r>
            <a:endParaRPr lang="en-US" sz="1600" u="sng" dirty="0"/>
          </a:p>
        </p:txBody>
      </p:sp>
      <p:sp>
        <p:nvSpPr>
          <p:cNvPr id="2" name="Oval 1"/>
          <p:cNvSpPr/>
          <p:nvPr/>
        </p:nvSpPr>
        <p:spPr>
          <a:xfrm>
            <a:off x="2529636" y="1288773"/>
            <a:ext cx="789888" cy="878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initial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2" idx="1"/>
          </p:cNvCxnSpPr>
          <p:nvPr/>
        </p:nvCxnSpPr>
        <p:spPr>
          <a:xfrm>
            <a:off x="1995482" y="1057939"/>
            <a:ext cx="649830" cy="35946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41784" y="1250609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= Write </a:t>
            </a:r>
            <a:r>
              <a:rPr lang="en-US" sz="1200" dirty="0" smtClean="0"/>
              <a:t>16 bits command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5875062" y="1256596"/>
            <a:ext cx="1182163" cy="11176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Quad command process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" idx="6"/>
            <a:endCxn id="8" idx="2"/>
          </p:cNvCxnSpPr>
          <p:nvPr/>
        </p:nvCxnSpPr>
        <p:spPr>
          <a:xfrm>
            <a:off x="3319524" y="1727940"/>
            <a:ext cx="2555538" cy="8749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95482" y="809868"/>
            <a:ext cx="898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Reset = ‘1’</a:t>
            </a:r>
            <a:endParaRPr 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778135" y="1727940"/>
            <a:ext cx="134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Main state machine </a:t>
            </a:r>
            <a:r>
              <a:rPr lang="en-US" sz="1200" dirty="0" smtClean="0"/>
              <a:t>!= </a:t>
            </a:r>
            <a:r>
              <a:rPr lang="en-US" sz="1200" dirty="0"/>
              <a:t>Write </a:t>
            </a:r>
            <a:r>
              <a:rPr lang="en-US" sz="1200" dirty="0" smtClean="0"/>
              <a:t>16 </a:t>
            </a:r>
            <a:r>
              <a:rPr lang="en-US" sz="1200" dirty="0"/>
              <a:t>bits command</a:t>
            </a:r>
          </a:p>
        </p:txBody>
      </p:sp>
      <p:sp>
        <p:nvSpPr>
          <p:cNvPr id="17" name="Freeform 16"/>
          <p:cNvSpPr/>
          <p:nvPr/>
        </p:nvSpPr>
        <p:spPr>
          <a:xfrm>
            <a:off x="2058345" y="1637227"/>
            <a:ext cx="757819" cy="766121"/>
          </a:xfrm>
          <a:custGeom>
            <a:avLst/>
            <a:gdLst>
              <a:gd name="connsiteX0" fmla="*/ 1092200 w 1092200"/>
              <a:gd name="connsiteY0" fmla="*/ 696430 h 1026588"/>
              <a:gd name="connsiteX1" fmla="*/ 822960 w 1092200"/>
              <a:gd name="connsiteY1" fmla="*/ 996150 h 1026588"/>
              <a:gd name="connsiteX2" fmla="*/ 228600 w 1092200"/>
              <a:gd name="connsiteY2" fmla="*/ 950430 h 1026588"/>
              <a:gd name="connsiteX3" fmla="*/ 0 w 1092200"/>
              <a:gd name="connsiteY3" fmla="*/ 411950 h 1026588"/>
              <a:gd name="connsiteX4" fmla="*/ 228600 w 1092200"/>
              <a:gd name="connsiteY4" fmla="*/ 51270 h 1026588"/>
              <a:gd name="connsiteX5" fmla="*/ 685800 w 1092200"/>
              <a:gd name="connsiteY5" fmla="*/ 10630 h 102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200" h="1026588">
                <a:moveTo>
                  <a:pt x="1092200" y="696430"/>
                </a:moveTo>
                <a:cubicBezTo>
                  <a:pt x="1029546" y="825123"/>
                  <a:pt x="966893" y="953817"/>
                  <a:pt x="822960" y="996150"/>
                </a:cubicBezTo>
                <a:cubicBezTo>
                  <a:pt x="679027" y="1038483"/>
                  <a:pt x="365760" y="1047797"/>
                  <a:pt x="228600" y="950430"/>
                </a:cubicBezTo>
                <a:cubicBezTo>
                  <a:pt x="91440" y="853063"/>
                  <a:pt x="0" y="561810"/>
                  <a:pt x="0" y="411950"/>
                </a:cubicBezTo>
                <a:cubicBezTo>
                  <a:pt x="0" y="262090"/>
                  <a:pt x="114300" y="118157"/>
                  <a:pt x="228600" y="51270"/>
                </a:cubicBezTo>
                <a:cubicBezTo>
                  <a:pt x="342900" y="-15617"/>
                  <a:pt x="514350" y="-2494"/>
                  <a:pt x="685800" y="1063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0" name="Straight Arrow Connector 49"/>
          <p:cNvCxnSpPr>
            <a:stCxn id="8" idx="4"/>
            <a:endCxn id="26" idx="0"/>
          </p:cNvCxnSpPr>
          <p:nvPr/>
        </p:nvCxnSpPr>
        <p:spPr>
          <a:xfrm>
            <a:off x="6466144" y="2374271"/>
            <a:ext cx="562220" cy="123570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769445" y="2531033"/>
            <a:ext cx="233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Send Quad command process done = ‘1’</a:t>
            </a:r>
            <a:endParaRPr lang="en-US" sz="1200" dirty="0"/>
          </a:p>
        </p:txBody>
      </p:sp>
      <p:sp>
        <p:nvSpPr>
          <p:cNvPr id="39" name="Arc 38"/>
          <p:cNvSpPr/>
          <p:nvPr/>
        </p:nvSpPr>
        <p:spPr>
          <a:xfrm>
            <a:off x="6045157" y="83301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265028" y="561228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sp>
        <p:nvSpPr>
          <p:cNvPr id="43" name="Arc 42"/>
          <p:cNvSpPr/>
          <p:nvPr/>
        </p:nvSpPr>
        <p:spPr>
          <a:xfrm>
            <a:off x="6026458" y="832580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95316" y="5075375"/>
            <a:ext cx="29771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smtClean="0"/>
              <a:t>Notes:</a:t>
            </a:r>
            <a:r>
              <a:rPr lang="en-US" sz="1600" dirty="0" smtClean="0"/>
              <a:t> LSB sending first, see example for writing FEF8h to the non volatile register :</a:t>
            </a:r>
            <a:endParaRPr lang="en-US" sz="1600" u="sng" dirty="0"/>
          </a:p>
        </p:txBody>
      </p:sp>
      <p:sp>
        <p:nvSpPr>
          <p:cNvPr id="3" name="Rectangle 2"/>
          <p:cNvSpPr/>
          <p:nvPr/>
        </p:nvSpPr>
        <p:spPr>
          <a:xfrm>
            <a:off x="3769360" y="5283200"/>
            <a:ext cx="2495668" cy="497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F8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265028" y="5283200"/>
            <a:ext cx="2495668" cy="497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614071" y="4939723"/>
            <a:ext cx="806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LSByte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982266" y="4913868"/>
            <a:ext cx="905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MSByte</a:t>
            </a:r>
            <a:endParaRPr lang="en-US" dirty="0"/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3800190" y="6097299"/>
            <a:ext cx="813881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00190" y="6228893"/>
            <a:ext cx="2470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 sending direction…</a:t>
            </a:r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6408421" y="3609980"/>
            <a:ext cx="1239886" cy="12068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Initiate Send </a:t>
            </a:r>
            <a:r>
              <a:rPr lang="en-US" sz="1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nonvolatile data</a:t>
            </a:r>
            <a:endParaRPr lang="en-US" sz="1200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27" name="Arc 26"/>
          <p:cNvSpPr/>
          <p:nvPr/>
        </p:nvSpPr>
        <p:spPr>
          <a:xfrm rot="4872224">
            <a:off x="7205900" y="3772784"/>
            <a:ext cx="961224" cy="835197"/>
          </a:xfrm>
          <a:prstGeom prst="arc">
            <a:avLst>
              <a:gd name="adj1" fmla="val 9776102"/>
              <a:gd name="adj2" fmla="val 1540800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 rot="1150426">
            <a:off x="7578346" y="3471481"/>
            <a:ext cx="717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else</a:t>
            </a:r>
            <a:endParaRPr lang="en-US" sz="1200" dirty="0"/>
          </a:p>
        </p:txBody>
      </p:sp>
      <p:cxnSp>
        <p:nvCxnSpPr>
          <p:cNvPr id="29" name="Straight Arrow Connector 28"/>
          <p:cNvCxnSpPr>
            <a:stCxn id="26" idx="2"/>
          </p:cNvCxnSpPr>
          <p:nvPr/>
        </p:nvCxnSpPr>
        <p:spPr>
          <a:xfrm flipH="1" flipV="1">
            <a:off x="3203849" y="2038478"/>
            <a:ext cx="3204572" cy="2174946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774802" y="3279915"/>
            <a:ext cx="159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Send Quad </a:t>
            </a:r>
            <a:r>
              <a:rPr lang="en-US" sz="1200" dirty="0" smtClean="0"/>
              <a:t>Data</a:t>
            </a:r>
            <a:endParaRPr lang="en-US" sz="1200" dirty="0"/>
          </a:p>
          <a:p>
            <a:r>
              <a:rPr lang="en-US" sz="1200" dirty="0"/>
              <a:t>process done = ‘1’</a:t>
            </a:r>
          </a:p>
        </p:txBody>
      </p:sp>
    </p:spTree>
    <p:extLst>
      <p:ext uri="{BB962C8B-B14F-4D97-AF65-F5344CB8AC3E}">
        <p14:creationId xmlns:p14="http://schemas.microsoft.com/office/powerpoint/2010/main" val="1291350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3414</TotalTime>
  <Words>816</Words>
  <Application>Microsoft Office PowerPoint</Application>
  <PresentationFormat>Widescreen</PresentationFormat>
  <Paragraphs>216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ofer k</dc:creator>
  <cp:lastModifiedBy>ofer k</cp:lastModifiedBy>
  <cp:revision>88</cp:revision>
  <dcterms:created xsi:type="dcterms:W3CDTF">2021-03-20T15:41:14Z</dcterms:created>
  <dcterms:modified xsi:type="dcterms:W3CDTF">2021-03-24T19:22:13Z</dcterms:modified>
</cp:coreProperties>
</file>